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62" r:id="rId2"/>
    <p:sldId id="263" r:id="rId3"/>
    <p:sldId id="256" r:id="rId4"/>
    <p:sldId id="257" r:id="rId5"/>
    <p:sldId id="258" r:id="rId6"/>
    <p:sldId id="259" r:id="rId7"/>
    <p:sldId id="260" r:id="rId8"/>
    <p:sldId id="261" r:id="rId9"/>
    <p:sldId id="264" r:id="rId10"/>
    <p:sldId id="265" r:id="rId11"/>
    <p:sldId id="266" r:id="rId12"/>
    <p:sldId id="267" r:id="rId13"/>
    <p:sldId id="268" r:id="rId14"/>
    <p:sldId id="269" r:id="rId15"/>
    <p:sldId id="270" r:id="rId16"/>
    <p:sldId id="272" r:id="rId17"/>
    <p:sldId id="273"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p:scale>
          <a:sx n="169" d="100"/>
          <a:sy n="169" d="100"/>
        </p:scale>
        <p:origin x="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6884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Datos: BCRA</a:t>
            </a:r>
            <a:endParaRPr lang="en-US" sz="2200" dirty="0"/>
          </a:p>
        </p:txBody>
      </p:sp>
      <p:sp>
        <p:nvSpPr>
          <p:cNvPr id="3" name="Text 1"/>
          <p:cNvSpPr/>
          <p:nvPr/>
        </p:nvSpPr>
        <p:spPr>
          <a:xfrm>
            <a:off x="502920" y="768096"/>
            <a:ext cx="8138160" cy="274320"/>
          </a:xfrm>
          <a:prstGeom prst="rect">
            <a:avLst/>
          </a:prstGeom>
          <a:noFill/>
          <a:ln/>
        </p:spPr>
        <p:txBody>
          <a:bodyPr wrap="square" lIns="0" tIns="0" rIns="0" bIns="0" rtlCol="0" anchor="t"/>
          <a:lstStyle/>
          <a:p>
            <a:pPr marL="0" indent="0">
              <a:lnSpc>
                <a:spcPts val="1500"/>
              </a:lnSpc>
              <a:buNone/>
            </a:pPr>
            <a:r>
              <a:rPr lang="en-US" sz="1200" dirty="0">
                <a:solidFill>
                  <a:srgbClr val="5A6270"/>
                </a:solidFill>
                <a:latin typeface="Calibri" pitchFamily="34" charset="0"/>
                <a:ea typeface="Calibri" pitchFamily="34" charset="-122"/>
                <a:cs typeface="Calibri" pitchFamily="34" charset="-120"/>
              </a:rPr>
              <a:t>Bases ya construidas, ordenadas por nivel de variación.</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115568"/>
          <a:ext cx="8138160" cy="2209800"/>
        </p:xfrm>
        <a:graphic>
          <a:graphicData uri="http://schemas.openxmlformats.org/drawingml/2006/table">
            <a:tbl>
              <a:tblPr/>
              <a:tblGrid>
                <a:gridCol w="1143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tblGrid>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Nivel de variación</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Base</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Cobertura</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Contenido</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Banco × mes</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balances_bancos</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85 entidades</a:t>
                      </a:r>
                      <a:endParaRPr lang="en-US" sz="1000" dirty="0">
                        <a:latin typeface="Calibri" charset="0"/>
                        <a:ea typeface="Calibri" charset="0"/>
                        <a:cs typeface="Calibri" charset="0"/>
                      </a:endParaRPr>
                    </a:p>
                    <a:p>
                      <a:pPr marL="0" indent="0">
                        <a:buNone/>
                      </a:pPr>
                      <a:r>
                        <a:rPr lang="en-US" sz="1000" dirty="0">
                          <a:solidFill>
                            <a:srgbClr val="202124"/>
                          </a:solidFill>
                          <a:latin typeface="Calibri" pitchFamily="34" charset="0"/>
                          <a:ea typeface="Calibri" pitchFamily="34" charset="-122"/>
                          <a:cs typeface="Calibri" pitchFamily="34" charset="-120"/>
                        </a:rPr>
                        <a:t>2018m1–2026m4</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Activo, préstamos totales y al sector privado, depósitos por tipo (cuenta corriente, caja de ahorro, cuenta sueldo, plazo fijo), cuentas remuneradas de personas jurídicas y depósitos precancelables, patrimonio y resultados. Clasificación institucional mensual.</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Banco × mes</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caracteristicas_bancos</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528.714 filas</a:t>
                      </a:r>
                      <a:endParaRPr lang="en-US" sz="1000" dirty="0">
                        <a:latin typeface="Calibri" charset="0"/>
                        <a:ea typeface="Calibri" charset="0"/>
                        <a:cs typeface="Calibri" charset="0"/>
                      </a:endParaRPr>
                    </a:p>
                    <a:p>
                      <a:pPr marL="0" indent="0">
                        <a:buNone/>
                      </a:pPr>
                      <a:r>
                        <a:rPr lang="en-US" sz="1000" dirty="0">
                          <a:solidFill>
                            <a:srgbClr val="202124"/>
                          </a:solidFill>
                          <a:latin typeface="Calibri" pitchFamily="34" charset="0"/>
                          <a:ea typeface="Calibri" pitchFamily="34" charset="-122"/>
                          <a:cs typeface="Calibri" pitchFamily="34" charset="-120"/>
                        </a:rPr>
                        <a:t>2018m1–2026m4</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Cantidad de cuentas y tarjetas, dotación de personal, indicadores prudenciales y situación de la cartera.</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Banco × provincia</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prestamos_depositos_prov</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48.115 obs.</a:t>
                      </a:r>
                      <a:endParaRPr lang="en-US" sz="1000" dirty="0">
                        <a:latin typeface="Calibri" charset="0"/>
                        <a:ea typeface="Calibri" charset="0"/>
                        <a:cs typeface="Calibri" charset="0"/>
                      </a:endParaRPr>
                    </a:p>
                    <a:p>
                      <a:pPr marL="0" indent="0">
                        <a:buNone/>
                      </a:pPr>
                      <a:r>
                        <a:rPr lang="en-US" sz="1000" dirty="0">
                          <a:solidFill>
                            <a:srgbClr val="202124"/>
                          </a:solidFill>
                          <a:latin typeface="Calibri" pitchFamily="34" charset="0"/>
                          <a:ea typeface="Calibri" pitchFamily="34" charset="-122"/>
                          <a:cs typeface="Calibri" pitchFamily="34" charset="-120"/>
                        </a:rPr>
                        <a:t>2018m1–2026m4</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Sucursales, cajeros, terminales y agencias complementarias, mensual. Préstamos y depósitos del banco en cada provincia, trimestral.</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Provincia</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inclusion_prov</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24 × 108 meses</a:t>
                      </a:r>
                      <a:endParaRPr lang="en-US" sz="1000" dirty="0">
                        <a:latin typeface="Calibri" charset="0"/>
                        <a:ea typeface="Calibri" charset="0"/>
                        <a:cs typeface="Calibri" charset="0"/>
                      </a:endParaRPr>
                    </a:p>
                    <a:p>
                      <a:pPr marL="0" indent="0">
                        <a:buNone/>
                      </a:pPr>
                      <a:r>
                        <a:rPr lang="en-US" sz="1000" dirty="0">
                          <a:solidFill>
                            <a:srgbClr val="202124"/>
                          </a:solidFill>
                          <a:latin typeface="Calibri" pitchFamily="34" charset="0"/>
                          <a:ea typeface="Calibri" pitchFamily="34" charset="-122"/>
                          <a:cs typeface="Calibri" pitchFamily="34" charset="-120"/>
                        </a:rPr>
                        <a:t>2017m1–2025m12</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Adultos con financiamiento por grupo de acreedor y por producto, mensual. Puntos de acceso, mensual desde 2019. Tenencia de cuenta bancaria, de pago o ambas, trimestral desde 2019q1.</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02920" y="3529584"/>
            <a:ext cx="8138160"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Límites del dato</a:t>
            </a:r>
            <a:endParaRPr lang="en-US" sz="1200" dirty="0"/>
          </a:p>
        </p:txBody>
      </p:sp>
      <p:sp>
        <p:nvSpPr>
          <p:cNvPr id="6" name="Text 3"/>
          <p:cNvSpPr/>
          <p:nvPr/>
        </p:nvSpPr>
        <p:spPr>
          <a:xfrm>
            <a:off x="502920" y="3767328"/>
            <a:ext cx="8138160" cy="146304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050" dirty="0">
                <a:solidFill>
                  <a:srgbClr val="202124"/>
                </a:solidFill>
                <a:latin typeface="Calibri" pitchFamily="34" charset="0"/>
                <a:ea typeface="Calibri" pitchFamily="34" charset="-122"/>
                <a:cs typeface="Calibri" pitchFamily="34" charset="-120"/>
              </a:rPr>
              <a:t>El plan de cuentas clasifica los depósitos por instrumento y no por depositante: </a:t>
            </a:r>
            <a:r>
              <a:rPr lang="en-US" sz="1050" b="1" dirty="0">
                <a:solidFill>
                  <a:srgbClr val="202124"/>
                </a:solidFill>
                <a:latin typeface="Calibri" pitchFamily="34" charset="0"/>
                <a:ea typeface="Calibri" pitchFamily="34" charset="-122"/>
                <a:cs typeface="Calibri" pitchFamily="34" charset="-120"/>
              </a:rPr>
              <a:t>no existe partida de depósitos de FCI ni de PSP.</a:t>
            </a:r>
            <a:r>
              <a:rPr lang="en-US" sz="1050" dirty="0">
                <a:solidFill>
                  <a:srgbClr val="202124"/>
                </a:solidFill>
                <a:latin typeface="Calibri" pitchFamily="34" charset="0"/>
                <a:ea typeface="Calibri" pitchFamily="34" charset="-122"/>
                <a:cs typeface="Calibri" pitchFamily="34" charset="-120"/>
              </a:rPr>
              <a:t> El proxy de fondeo mayorista mezcla a toda persona jurídica.</a:t>
            </a:r>
            <a:endParaRPr lang="en-US" sz="1050" dirty="0"/>
          </a:p>
          <a:p>
            <a:pPr marL="342900" indent="-342900">
              <a:lnSpc>
                <a:spcPts val="1250"/>
              </a:lnSpc>
              <a:spcAft>
                <a:spcPts val="400"/>
              </a:spcAft>
              <a:buSzPct val="100000"/>
              <a:buChar char="•"/>
            </a:pPr>
            <a:r>
              <a:rPr lang="en-US" sz="1050" b="1" dirty="0">
                <a:solidFill>
                  <a:srgbClr val="202124"/>
                </a:solidFill>
                <a:latin typeface="Calibri" pitchFamily="34" charset="0"/>
                <a:ea typeface="Calibri" pitchFamily="34" charset="-122"/>
                <a:cs typeface="Calibri" pitchFamily="34" charset="-120"/>
              </a:rPr>
              <a:t>Los préstamos y depósitos por provincia no tienen apertura por tipo de </a:t>
            </a:r>
            <a:r>
              <a:rPr lang="en-US" sz="1050" b="1" dirty="0" err="1">
                <a:solidFill>
                  <a:srgbClr val="202124"/>
                </a:solidFill>
                <a:latin typeface="Calibri" pitchFamily="34" charset="0"/>
                <a:ea typeface="Calibri" pitchFamily="34" charset="-122"/>
                <a:cs typeface="Calibri" pitchFamily="34" charset="-120"/>
              </a:rPr>
              <a:t>depósito</a:t>
            </a:r>
            <a:endParaRPr lang="en-US" sz="1050" b="1" dirty="0">
              <a:solidFill>
                <a:srgbClr val="202124"/>
              </a:solidFill>
              <a:latin typeface="Calibri" pitchFamily="34" charset="0"/>
              <a:ea typeface="Calibri" pitchFamily="34" charset="-122"/>
              <a:cs typeface="Calibri" pitchFamily="34" charset="-120"/>
            </a:endParaRPr>
          </a:p>
          <a:p>
            <a:pPr marL="342900" indent="-342900">
              <a:lnSpc>
                <a:spcPts val="1250"/>
              </a:lnSpc>
              <a:spcAft>
                <a:spcPts val="400"/>
              </a:spcAft>
              <a:buSzPct val="100000"/>
              <a:buChar char="•"/>
            </a:pPr>
            <a:r>
              <a:rPr lang="en-US" sz="1050" dirty="0">
                <a:solidFill>
                  <a:srgbClr val="202124"/>
                </a:solidFill>
                <a:latin typeface="Calibri" pitchFamily="34" charset="0"/>
                <a:ea typeface="Calibri" pitchFamily="34" charset="-122"/>
                <a:cs typeface="Calibri" pitchFamily="34" charset="-120"/>
              </a:rPr>
              <a:t>La tenencia de cuentas es trimestral y arranca en 2019. Es la medida más directa de adopción de billeteras disponible.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Datos: CAFCI, CNV y registro de PSP</a:t>
            </a:r>
            <a:endParaRPr lang="en-US" sz="2200" dirty="0"/>
          </a:p>
        </p:txBody>
      </p:sp>
      <p:sp>
        <p:nvSpPr>
          <p:cNvPr id="3" name="Text 1"/>
          <p:cNvSpPr/>
          <p:nvPr/>
        </p:nvSpPr>
        <p:spPr>
          <a:xfrm>
            <a:off x="502920" y="749808"/>
            <a:ext cx="8138160" cy="457200"/>
          </a:xfrm>
          <a:prstGeom prst="rect">
            <a:avLst/>
          </a:prstGeom>
          <a:noFill/>
          <a:ln/>
        </p:spPr>
        <p:txBody>
          <a:bodyPr wrap="square" lIns="0" tIns="0" rIns="0" bIns="0" rtlCol="0" anchor="t"/>
          <a:lstStyle/>
          <a:p>
            <a:pPr marL="0" indent="0">
              <a:lnSpc>
                <a:spcPts val="1500"/>
              </a:lnSpc>
              <a:buNone/>
            </a:pPr>
            <a:r>
              <a:rPr lang="en-US" sz="1200" dirty="0">
                <a:solidFill>
                  <a:srgbClr val="5A6270"/>
                </a:solidFill>
                <a:latin typeface="Calibri" pitchFamily="34" charset="0"/>
                <a:ea typeface="Calibri" pitchFamily="34" charset="-122"/>
                <a:cs typeface="Calibri" pitchFamily="34" charset="-120"/>
              </a:rPr>
              <a:t>Las dos primeras filas son endpoints de una misma API no documentada de CAFCI (api.cafci.org.ar), que rechaza la navegación directa y solo responde a pedidos con referencia al sitio de estadísticas.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148820563"/>
              </p:ext>
            </p:extLst>
          </p:nvPr>
        </p:nvGraphicFramePr>
        <p:xfrm>
          <a:off x="502920" y="1298448"/>
          <a:ext cx="8138160" cy="1752600"/>
        </p:xfrm>
        <a:graphic>
          <a:graphicData uri="http://schemas.openxmlformats.org/drawingml/2006/table">
            <a:tbl>
              <a:tblPr/>
              <a:tblGrid>
                <a:gridCol w="1463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Fuente</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Qué tiene</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Estado</a:t>
                      </a:r>
                      <a:endParaRPr lang="en-US" sz="100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CAFCI · API</a:t>
                      </a:r>
                      <a:endParaRPr lang="en-US" sz="1000" dirty="0">
                        <a:latin typeface="Calibri" charset="0"/>
                        <a:ea typeface="Calibri" charset="0"/>
                        <a:cs typeface="Calibri" charset="0"/>
                      </a:endParaRPr>
                    </a:p>
                    <a:p>
                      <a:pPr marL="0" indent="0">
                        <a:buNone/>
                      </a:pPr>
                      <a:r>
                        <a:rPr lang="en-US" sz="1000" b="1" dirty="0">
                          <a:solidFill>
                            <a:srgbClr val="1F3864"/>
                          </a:solidFill>
                          <a:latin typeface="Calibri" pitchFamily="34" charset="0"/>
                          <a:ea typeface="Calibri" pitchFamily="34" charset="-122"/>
                          <a:cs typeface="Calibri" pitchFamily="34" charset="-120"/>
                        </a:rPr>
                        <a:t>ficha por clase</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Patrimonio, valor de cuotaparte y rendimiento por clase de cuotaparte, diario.</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Endpoint identificado, sin descargar. </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CAFCI · API</a:t>
                      </a:r>
                      <a:endParaRPr lang="en-US" sz="1000" dirty="0">
                        <a:latin typeface="Calibri" charset="0"/>
                        <a:ea typeface="Calibri" charset="0"/>
                        <a:cs typeface="Calibri" charset="0"/>
                      </a:endParaRPr>
                    </a:p>
                    <a:p>
                      <a:pPr marL="0" indent="0">
                        <a:buNone/>
                      </a:pPr>
                      <a:r>
                        <a:rPr lang="en-US" sz="1000" b="1" dirty="0">
                          <a:solidFill>
                            <a:srgbClr val="1F3864"/>
                          </a:solidFill>
                          <a:latin typeface="Calibri" pitchFamily="34" charset="0"/>
                          <a:ea typeface="Calibri" pitchFamily="34" charset="-122"/>
                          <a:cs typeface="Calibri" pitchFamily="34" charset="-120"/>
                        </a:rPr>
                        <a:t>cartera semanal</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Cartera del fondo con el nombre del banco emisor en plazos fijos y cuentas remuneradas. Permite armar una matriz fondo × banco.</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Endpoint identificado, sin descargar. </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BCRA</a:t>
                      </a:r>
                      <a:endParaRPr lang="en-US" sz="1000" dirty="0">
                        <a:latin typeface="Calibri" charset="0"/>
                        <a:ea typeface="Calibri" charset="0"/>
                        <a:cs typeface="Calibri" charset="0"/>
                      </a:endParaRPr>
                    </a:p>
                    <a:p>
                      <a:pPr marL="0" indent="0">
                        <a:buNone/>
                      </a:pPr>
                      <a:r>
                        <a:rPr lang="en-US" sz="1000" b="1" dirty="0">
                          <a:solidFill>
                            <a:srgbClr val="1F3864"/>
                          </a:solidFill>
                          <a:latin typeface="Calibri" pitchFamily="34" charset="0"/>
                          <a:ea typeface="Calibri" pitchFamily="34" charset="-122"/>
                          <a:cs typeface="Calibri" pitchFamily="34" charset="-120"/>
                        </a:rPr>
                        <a:t>registro de PSP</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219 PSPCP y 202 firmas de otros tipos, con código de entidad, CUIT y provincia.</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Descargado.</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1000" b="1" dirty="0">
                          <a:solidFill>
                            <a:srgbClr val="1F3864"/>
                          </a:solidFill>
                          <a:latin typeface="Calibri" pitchFamily="34" charset="0"/>
                          <a:ea typeface="Calibri" pitchFamily="34" charset="-122"/>
                          <a:cs typeface="Calibri" pitchFamily="34" charset="-120"/>
                        </a:rPr>
                        <a:t>BCRA</a:t>
                      </a:r>
                      <a:endParaRPr lang="en-US" sz="1000" dirty="0">
                        <a:latin typeface="Calibri" charset="0"/>
                        <a:ea typeface="Calibri" charset="0"/>
                        <a:cs typeface="Calibri" charset="0"/>
                      </a:endParaRPr>
                    </a:p>
                    <a:p>
                      <a:pPr marL="0" indent="0">
                        <a:buNone/>
                      </a:pPr>
                      <a:r>
                        <a:rPr lang="en-US" sz="1000" b="1" dirty="0">
                          <a:solidFill>
                            <a:srgbClr val="1F3864"/>
                          </a:solidFill>
                          <a:latin typeface="Calibri" pitchFamily="34" charset="0"/>
                          <a:ea typeface="Calibri" pitchFamily="34" charset="-122"/>
                          <a:cs typeface="Calibri" pitchFamily="34" charset="-120"/>
                        </a:rPr>
                        <a:t>R.I.-PSP (A 8284)</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Saldos de cada PSP por banco, con CBU, y por fondo, con registro CNV. Mensual.</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00" dirty="0">
                          <a:solidFill>
                            <a:srgbClr val="202124"/>
                          </a:solidFill>
                          <a:latin typeface="Calibri" pitchFamily="34" charset="0"/>
                          <a:ea typeface="Calibri" pitchFamily="34" charset="-122"/>
                          <a:cs typeface="Calibri" pitchFamily="34" charset="-120"/>
                        </a:rPr>
                        <a:t>No es público. Requiere pedido por Ley 27.275.</a:t>
                      </a:r>
                      <a:endParaRPr lang="en-US" sz="100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502920" y="3547872"/>
            <a:ext cx="8138160"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Por qué no cierra el vínculo PSP → FCI</a:t>
            </a:r>
            <a:endParaRPr lang="en-US" sz="1200" dirty="0"/>
          </a:p>
        </p:txBody>
      </p:sp>
      <p:sp>
        <p:nvSpPr>
          <p:cNvPr id="6" name="Text 3"/>
          <p:cNvSpPr/>
          <p:nvPr/>
        </p:nvSpPr>
        <p:spPr>
          <a:xfrm>
            <a:off x="502920" y="3785616"/>
            <a:ext cx="8138160" cy="900684"/>
          </a:xfrm>
          <a:prstGeom prst="rect">
            <a:avLst/>
          </a:prstGeom>
          <a:noFill/>
          <a:ln/>
        </p:spPr>
        <p:txBody>
          <a:bodyPr wrap="square" lIns="0" tIns="0" rIns="0" bIns="0" rtlCol="0" anchor="t"/>
          <a:lstStyle/>
          <a:p>
            <a:pPr marL="342900" indent="-342900">
              <a:lnSpc>
                <a:spcPts val="1200"/>
              </a:lnSpc>
              <a:spcAft>
                <a:spcPts val="400"/>
              </a:spcAft>
              <a:buSzPct val="100000"/>
              <a:buChar char="•"/>
            </a:pPr>
            <a:r>
              <a:rPr lang="en-US" sz="1000" b="1" dirty="0">
                <a:solidFill>
                  <a:srgbClr val="202124"/>
                </a:solidFill>
                <a:latin typeface="Calibri" pitchFamily="34" charset="0"/>
                <a:ea typeface="Calibri" pitchFamily="34" charset="-122"/>
                <a:cs typeface="Calibri" pitchFamily="34" charset="-120"/>
              </a:rPr>
              <a:t>La colocación la hace un ACDI (agente colocador y distribuidor integral), </a:t>
            </a:r>
            <a:r>
              <a:rPr lang="en-US" sz="1000" b="1" dirty="0" err="1">
                <a:solidFill>
                  <a:srgbClr val="202124"/>
                </a:solidFill>
                <a:latin typeface="Calibri" pitchFamily="34" charset="0"/>
                <a:ea typeface="Calibri" pitchFamily="34" charset="-122"/>
                <a:cs typeface="Calibri" pitchFamily="34" charset="-120"/>
              </a:rPr>
              <a:t>que</a:t>
            </a:r>
            <a:r>
              <a:rPr lang="en-US" sz="1000" b="1" dirty="0">
                <a:solidFill>
                  <a:srgbClr val="202124"/>
                </a:solidFill>
                <a:latin typeface="Calibri" pitchFamily="34" charset="0"/>
                <a:ea typeface="Calibri" pitchFamily="34" charset="-122"/>
                <a:cs typeface="Calibri" pitchFamily="34" charset="-120"/>
              </a:rPr>
              <a:t> </a:t>
            </a:r>
            <a:r>
              <a:rPr lang="en-US" sz="1000" b="1" dirty="0" err="1">
                <a:solidFill>
                  <a:srgbClr val="202124"/>
                </a:solidFill>
                <a:latin typeface="Calibri" pitchFamily="34" charset="0"/>
                <a:ea typeface="Calibri" pitchFamily="34" charset="-122"/>
                <a:cs typeface="Calibri" pitchFamily="34" charset="-120"/>
              </a:rPr>
              <a:t>suscribe</a:t>
            </a:r>
            <a:r>
              <a:rPr lang="en-US" sz="1000" b="1" dirty="0">
                <a:solidFill>
                  <a:srgbClr val="202124"/>
                </a:solidFill>
                <a:latin typeface="Calibri" pitchFamily="34" charset="0"/>
                <a:ea typeface="Calibri" pitchFamily="34" charset="-122"/>
                <a:cs typeface="Calibri" pitchFamily="34" charset="-120"/>
              </a:rPr>
              <a:t> a nombre propio por cuenta de terceros, de modo que el fondo registra al ACDI y no al PSP ni al usuario final.</a:t>
            </a:r>
            <a:endParaRPr lang="en-US" sz="1000" b="1" dirty="0"/>
          </a:p>
          <a:p>
            <a:pPr marL="342900" indent="-342900">
              <a:lnSpc>
                <a:spcPts val="1200"/>
              </a:lnSpc>
              <a:spcAft>
                <a:spcPts val="400"/>
              </a:spcAft>
              <a:buSzPct val="100000"/>
              <a:buChar char="•"/>
            </a:pPr>
            <a:r>
              <a:rPr lang="en-US" sz="1000" b="1" dirty="0">
                <a:solidFill>
                  <a:srgbClr val="202124"/>
                </a:solidFill>
                <a:latin typeface="Calibri" pitchFamily="34" charset="0"/>
                <a:ea typeface="Calibri" pitchFamily="34" charset="-122"/>
                <a:cs typeface="Calibri" pitchFamily="34" charset="-120"/>
              </a:rPr>
              <a:t>Sin datos de fuente de fondeo por ACDI</a:t>
            </a:r>
            <a:r>
              <a:rPr lang="en-US" sz="1000" dirty="0">
                <a:solidFill>
                  <a:srgbClr val="202124"/>
                </a:solidFill>
                <a:latin typeface="Calibri" pitchFamily="34" charset="0"/>
                <a:ea typeface="Calibri" pitchFamily="34" charset="-122"/>
                <a:cs typeface="Calibri" pitchFamily="34" charset="-120"/>
              </a:rPr>
              <a:t>, el patrimonio de una clase es la suma de todas las billeteras que entran por ese canal. De ocho términos y condiciones leídos, ninguno nombra el banco ni la </a:t>
            </a:r>
            <a:r>
              <a:rPr lang="en-US" sz="1000" dirty="0" err="1">
                <a:solidFill>
                  <a:srgbClr val="202124"/>
                </a:solidFill>
                <a:latin typeface="Calibri" pitchFamily="34" charset="0"/>
                <a:ea typeface="Calibri" pitchFamily="34" charset="-122"/>
                <a:cs typeface="Calibri" pitchFamily="34" charset="-120"/>
              </a:rPr>
              <a:t>clase</a:t>
            </a:r>
            <a:r>
              <a:rPr lang="en-US" sz="1000" dirty="0">
                <a:solidFill>
                  <a:srgbClr val="202124"/>
                </a:solidFill>
                <a:latin typeface="Calibri" pitchFamily="34" charset="0"/>
                <a:ea typeface="Calibri" pitchFamily="34" charset="-122"/>
                <a:cs typeface="Calibri" pitchFamily="34" charset="-120"/>
              </a:rPr>
              <a:t>.</a:t>
            </a:r>
          </a:p>
          <a:p>
            <a:pPr marL="342900" indent="-342900">
              <a:lnSpc>
                <a:spcPts val="1200"/>
              </a:lnSpc>
              <a:spcAft>
                <a:spcPts val="400"/>
              </a:spcAft>
              <a:buSzPct val="100000"/>
              <a:buChar char="•"/>
            </a:pPr>
            <a:endParaRPr lang="en-US" sz="1000" dirty="0"/>
          </a:p>
          <a:p>
            <a:pPr>
              <a:lnSpc>
                <a:spcPts val="1200"/>
              </a:lnSpc>
              <a:spcAft>
                <a:spcPts val="400"/>
              </a:spcAft>
              <a:buSzPct val="100000"/>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Custodia de los fondos de clientes de los PSP (2020–2023)</a:t>
            </a:r>
            <a:endParaRPr lang="en-US" sz="2200" dirty="0"/>
          </a:p>
        </p:txBody>
      </p:sp>
      <p:sp>
        <p:nvSpPr>
          <p:cNvPr id="3" name="Text 1"/>
          <p:cNvSpPr/>
          <p:nvPr/>
        </p:nvSpPr>
        <p:spPr>
          <a:xfrm>
            <a:off x="502920" y="768096"/>
            <a:ext cx="8138160" cy="274320"/>
          </a:xfrm>
          <a:prstGeom prst="rect">
            <a:avLst/>
          </a:prstGeom>
          <a:noFill/>
          <a:ln/>
        </p:spPr>
        <p:txBody>
          <a:bodyPr wrap="square" lIns="0" tIns="0" rIns="0" bIns="0" rtlCol="0" anchor="ctr"/>
          <a:lstStyle/>
          <a:p>
            <a:pPr marL="0" indent="0">
              <a:buNone/>
            </a:pPr>
            <a:r>
              <a:rPr lang="en-US" sz="1200" dirty="0">
                <a:solidFill>
                  <a:srgbClr val="5A6270"/>
                </a:solidFill>
                <a:latin typeface="Calibri" pitchFamily="34" charset="0"/>
                <a:ea typeface="Calibri" pitchFamily="34" charset="-122"/>
                <a:cs typeface="Calibri" pitchFamily="34" charset="-120"/>
              </a:rPr>
              <a:t>Exigencia de efectivo mínimo sobre los saldos de las cuentas de pago y sobre la vía alternativa.</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2110809252"/>
              </p:ext>
            </p:extLst>
          </p:nvPr>
        </p:nvGraphicFramePr>
        <p:xfrm>
          <a:off x="502920" y="1115568"/>
          <a:ext cx="8138160" cy="1897380"/>
        </p:xfrm>
        <a:graphic>
          <a:graphicData uri="http://schemas.openxmlformats.org/drawingml/2006/table">
            <a:tbl>
              <a:tblPr/>
              <a:tblGrid>
                <a:gridCol w="868680">
                  <a:extLst>
                    <a:ext uri="{9D8B030D-6E8A-4147-A177-3AD203B41FA5}">
                      <a16:colId xmlns:a16="http://schemas.microsoft.com/office/drawing/2014/main" val="20000"/>
                    </a:ext>
                  </a:extLst>
                </a:gridCol>
                <a:gridCol w="1045029">
                  <a:extLst>
                    <a:ext uri="{9D8B030D-6E8A-4147-A177-3AD203B41FA5}">
                      <a16:colId xmlns:a16="http://schemas.microsoft.com/office/drawing/2014/main" val="20001"/>
                    </a:ext>
                  </a:extLst>
                </a:gridCol>
                <a:gridCol w="6224451">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Norma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Vigencia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Qué establece</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6859</a:t>
                      </a:r>
                      <a:endParaRPr lang="en-US" sz="1050" dirty="0">
                        <a:latin typeface="Calibri" charset="0"/>
                        <a:ea typeface="Calibri" charset="0"/>
                        <a:cs typeface="Calibri" charset="0"/>
                      </a:endParaRPr>
                    </a:p>
                    <a:p>
                      <a:pPr marL="0" indent="0">
                        <a:buNone/>
                      </a:pPr>
                      <a:r>
                        <a:rPr lang="en-US" sz="1050" b="1" dirty="0">
                          <a:solidFill>
                            <a:srgbClr val="1F3864"/>
                          </a:solidFill>
                          <a:latin typeface="Calibri" pitchFamily="34" charset="0"/>
                          <a:ea typeface="Calibri" pitchFamily="34" charset="-122"/>
                          <a:cs typeface="Calibri" pitchFamily="34" charset="-120"/>
                        </a:rPr>
                        <a:t>A 6885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31-ene-2020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Crean el régimen de PSPCP. El 100% de los fondos de clientes debe estar depositado a la vista en entidades financieras del país</a:t>
                      </a:r>
                      <a:r>
                        <a:rPr lang="en-US" sz="1050" dirty="0">
                          <a:solidFill>
                            <a:srgbClr val="202124"/>
                          </a:solidFill>
                          <a:latin typeface="Calibri" pitchFamily="34" charset="0"/>
                          <a:ea typeface="Calibri" pitchFamily="34" charset="-122"/>
                          <a:cs typeface="Calibri" pitchFamily="34" charset="-120"/>
                        </a:rPr>
                        <a:t>. </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6992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24-abr-2020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Incorpora al régimen de efectivo mínimo </a:t>
                      </a:r>
                      <a:r>
                        <a:rPr lang="en-US" sz="1050" b="1" dirty="0">
                          <a:solidFill>
                            <a:srgbClr val="202124"/>
                          </a:solidFill>
                          <a:latin typeface="Calibri" pitchFamily="34" charset="0"/>
                          <a:ea typeface="Calibri" pitchFamily="34" charset="-122"/>
                          <a:cs typeface="Calibri" pitchFamily="34" charset="-120"/>
                        </a:rPr>
                        <a:t>la categoría de depósitos a la vista que constituyen el haber de FCI money market, con exigencia del 0%.</a:t>
                      </a:r>
                      <a:endParaRPr lang="en-US" sz="1050" b="1"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7429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1-ene-2022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Fija una exigencia de efectivo mínimo del 100% sobre las cuentas de los PSPCP </a:t>
                      </a:r>
                      <a:r>
                        <a:rPr lang="en-US" sz="1050" dirty="0">
                          <a:solidFill>
                            <a:srgbClr val="202124"/>
                          </a:solidFill>
                          <a:latin typeface="Calibri" pitchFamily="34" charset="0"/>
                          <a:ea typeface="Calibri" pitchFamily="34" charset="-122"/>
                          <a:cs typeface="Calibri" pitchFamily="34" charset="-120"/>
                        </a:rPr>
                        <a:t>en las que se encuentran depositados los fondos de sus clientes (pto. 1.3.14).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7611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22-sep-2022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Permite integrar hasta 45 puntos porcentuales de esa exigencia con Bonos del Tesoro Nacional en pesos.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7825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25-ago-2023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La retribución que el PSP perciba por esos saldos debe ser trasladada totalmente a sus clientes.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667512" y="3366624"/>
            <a:ext cx="7808976"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Puntos </a:t>
            </a:r>
            <a:r>
              <a:rPr lang="en-US" sz="1200" b="1" dirty="0" err="1">
                <a:solidFill>
                  <a:srgbClr val="1F3864"/>
                </a:solidFill>
                <a:latin typeface="Calibri" pitchFamily="34" charset="0"/>
                <a:ea typeface="Calibri" pitchFamily="34" charset="-122"/>
                <a:cs typeface="Calibri" pitchFamily="34" charset="-120"/>
              </a:rPr>
              <a:t>relevantes</a:t>
            </a:r>
            <a:r>
              <a:rPr lang="en-US" sz="1200" b="1" dirty="0">
                <a:solidFill>
                  <a:srgbClr val="1F3864"/>
                </a:solidFill>
                <a:latin typeface="Calibri" pitchFamily="34" charset="0"/>
                <a:ea typeface="Calibri" pitchFamily="34" charset="-122"/>
                <a:cs typeface="Calibri" pitchFamily="34" charset="-120"/>
              </a:rPr>
              <a:t> para </a:t>
            </a:r>
            <a:r>
              <a:rPr lang="en-US" sz="1200" b="1" dirty="0" err="1">
                <a:solidFill>
                  <a:srgbClr val="1F3864"/>
                </a:solidFill>
                <a:latin typeface="Calibri" pitchFamily="34" charset="0"/>
                <a:ea typeface="Calibri" pitchFamily="34" charset="-122"/>
                <a:cs typeface="Calibri" pitchFamily="34" charset="-120"/>
              </a:rPr>
              <a:t>el</a:t>
            </a:r>
            <a:r>
              <a:rPr lang="en-US" sz="1200" b="1" dirty="0">
                <a:solidFill>
                  <a:srgbClr val="1F3864"/>
                </a:solidFill>
                <a:latin typeface="Calibri" pitchFamily="34" charset="0"/>
                <a:ea typeface="Calibri" pitchFamily="34" charset="-122"/>
                <a:cs typeface="Calibri" pitchFamily="34" charset="-120"/>
              </a:rPr>
              <a:t> </a:t>
            </a:r>
            <a:r>
              <a:rPr lang="en-US" sz="1200" b="1" dirty="0" err="1">
                <a:solidFill>
                  <a:srgbClr val="1F3864"/>
                </a:solidFill>
                <a:latin typeface="Calibri" pitchFamily="34" charset="0"/>
                <a:ea typeface="Calibri" pitchFamily="34" charset="-122"/>
                <a:cs typeface="Calibri" pitchFamily="34" charset="-120"/>
              </a:rPr>
              <a:t>caso</a:t>
            </a:r>
            <a:endParaRPr lang="en-US" sz="1200" dirty="0"/>
          </a:p>
        </p:txBody>
      </p:sp>
      <p:sp>
        <p:nvSpPr>
          <p:cNvPr id="7" name="Text 4"/>
          <p:cNvSpPr/>
          <p:nvPr/>
        </p:nvSpPr>
        <p:spPr>
          <a:xfrm>
            <a:off x="667512" y="3647149"/>
            <a:ext cx="7808976" cy="896112"/>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1100" b="1" dirty="0">
                <a:solidFill>
                  <a:srgbClr val="202124"/>
                </a:solidFill>
                <a:latin typeface="Calibri" pitchFamily="34" charset="0"/>
                <a:ea typeface="Calibri" pitchFamily="34" charset="-122"/>
                <a:cs typeface="Calibri" pitchFamily="34" charset="-120"/>
              </a:rPr>
              <a:t>Queda una diferencia de exigencia entre dos formas de mantener el mismo peso: 100% si permanece en la cuenta del PSP, 0% si se canaliza a un FCI money market.</a:t>
            </a:r>
            <a:endParaRPr lang="en-US" sz="1100" b="1" dirty="0"/>
          </a:p>
          <a:p>
            <a:pPr marL="342900" indent="-342900">
              <a:lnSpc>
                <a:spcPts val="1300"/>
              </a:lnSpc>
              <a:spcAft>
                <a:spcPts val="300"/>
              </a:spcAft>
              <a:buSzPct val="100000"/>
              <a:buChar char="•"/>
            </a:pPr>
            <a:r>
              <a:rPr lang="en-US" sz="1100" dirty="0">
                <a:solidFill>
                  <a:srgbClr val="202124"/>
                </a:solidFill>
                <a:latin typeface="Calibri" pitchFamily="34" charset="0"/>
                <a:ea typeface="Calibri" pitchFamily="34" charset="-122"/>
                <a:cs typeface="Calibri" pitchFamily="34" charset="-120"/>
              </a:rPr>
              <a:t>La exigencia recae sobre el banco, de modo que opera a través de lo que el banco está dispuesto a pagar por ese fondeo.</a:t>
            </a:r>
            <a:endParaRPr lang="en-US" sz="1100" dirty="0"/>
          </a:p>
          <a:p>
            <a:pPr marL="342900" indent="-342900">
              <a:lnSpc>
                <a:spcPts val="1300"/>
              </a:lnSpc>
              <a:spcAft>
                <a:spcPts val="300"/>
              </a:spcAft>
              <a:buSzPct val="100000"/>
              <a:buChar char="•"/>
            </a:pPr>
            <a:r>
              <a:rPr lang="en-US" sz="1100" dirty="0">
                <a:solidFill>
                  <a:srgbClr val="202124"/>
                </a:solidFill>
                <a:latin typeface="Calibri" pitchFamily="34" charset="0"/>
                <a:ea typeface="Calibri" pitchFamily="34" charset="-122"/>
                <a:cs typeface="Calibri" pitchFamily="34" charset="-120"/>
              </a:rPr>
              <a:t>La vía FCI está habilitada desde enero de 2020 y en uso desde 2018: las normas posteriores modifican su </a:t>
            </a:r>
            <a:r>
              <a:rPr lang="en-US" sz="1100" dirty="0" err="1">
                <a:solidFill>
                  <a:srgbClr val="202124"/>
                </a:solidFill>
                <a:latin typeface="Calibri" pitchFamily="34" charset="0"/>
                <a:ea typeface="Calibri" pitchFamily="34" charset="-122"/>
                <a:cs typeface="Calibri" pitchFamily="34" charset="-120"/>
              </a:rPr>
              <a:t>atractivo</a:t>
            </a:r>
            <a:r>
              <a:rPr lang="en-US" sz="1100" dirty="0">
                <a:solidFill>
                  <a:srgbClr val="202124"/>
                </a:solidFill>
                <a:latin typeface="Calibri" pitchFamily="34" charset="0"/>
                <a:ea typeface="Calibri" pitchFamily="34" charset="-122"/>
                <a:cs typeface="Calibri" pitchFamily="34" charset="-120"/>
              </a:rPr>
              <a:t> </a:t>
            </a:r>
            <a:r>
              <a:rPr lang="en-US" sz="1100" dirty="0" err="1">
                <a:solidFill>
                  <a:srgbClr val="202124"/>
                </a:solidFill>
                <a:latin typeface="Calibri" pitchFamily="34" charset="0"/>
                <a:ea typeface="Calibri" pitchFamily="34" charset="-122"/>
                <a:cs typeface="Calibri" pitchFamily="34" charset="-120"/>
              </a:rPr>
              <a:t>relativo</a:t>
            </a:r>
            <a:r>
              <a:rPr lang="en-US" sz="1100" dirty="0">
                <a:solidFill>
                  <a:srgbClr val="202124"/>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err="1">
                <a:solidFill>
                  <a:srgbClr val="1F3864"/>
                </a:solidFill>
                <a:latin typeface="Calibri" pitchFamily="34" charset="0"/>
                <a:ea typeface="Calibri" pitchFamily="34" charset="-122"/>
                <a:cs typeface="Calibri" pitchFamily="34" charset="-120"/>
              </a:rPr>
              <a:t>Encajes</a:t>
            </a:r>
            <a:r>
              <a:rPr lang="en-US" sz="2200" b="1" dirty="0">
                <a:solidFill>
                  <a:srgbClr val="1F3864"/>
                </a:solidFill>
                <a:latin typeface="Calibri" pitchFamily="34" charset="0"/>
                <a:ea typeface="Calibri" pitchFamily="34" charset="-122"/>
                <a:cs typeface="Calibri" pitchFamily="34" charset="-120"/>
              </a:rPr>
              <a:t> sobre los depósitos de FCI money market</a:t>
            </a:r>
            <a:endParaRPr lang="en-US" sz="2200" dirty="0"/>
          </a:p>
        </p:txBody>
      </p:sp>
      <p:sp>
        <p:nvSpPr>
          <p:cNvPr id="3" name="Text 1"/>
          <p:cNvSpPr/>
          <p:nvPr/>
        </p:nvSpPr>
        <p:spPr>
          <a:xfrm>
            <a:off x="502920" y="758952"/>
            <a:ext cx="8138160" cy="274320"/>
          </a:xfrm>
          <a:prstGeom prst="rect">
            <a:avLst/>
          </a:prstGeom>
          <a:noFill/>
          <a:ln/>
        </p:spPr>
        <p:txBody>
          <a:bodyPr wrap="square" lIns="0" tIns="0" rIns="0" bIns="0" rtlCol="0" anchor="ctr"/>
          <a:lstStyle/>
          <a:p>
            <a:pPr marL="0" indent="0">
              <a:buNone/>
            </a:pPr>
            <a:r>
              <a:rPr lang="en-US" sz="1200" dirty="0">
                <a:solidFill>
                  <a:srgbClr val="5A6270"/>
                </a:solidFill>
                <a:latin typeface="Calibri" pitchFamily="34" charset="0"/>
                <a:ea typeface="Calibri" pitchFamily="34" charset="-122"/>
                <a:cs typeface="Calibri" pitchFamily="34" charset="-120"/>
              </a:rPr>
              <a:t>2024–2025. Trayectoria de la exigencia sobre la </a:t>
            </a:r>
            <a:r>
              <a:rPr lang="en-US" sz="1200" dirty="0" err="1">
                <a:solidFill>
                  <a:srgbClr val="5A6270"/>
                </a:solidFill>
                <a:latin typeface="Calibri" pitchFamily="34" charset="0"/>
                <a:ea typeface="Calibri" pitchFamily="34" charset="-122"/>
                <a:cs typeface="Calibri" pitchFamily="34" charset="-120"/>
              </a:rPr>
              <a:t>vía</a:t>
            </a:r>
            <a:r>
              <a:rPr lang="en-US" sz="1200" dirty="0">
                <a:solidFill>
                  <a:srgbClr val="5A6270"/>
                </a:solidFill>
                <a:latin typeface="Calibri" pitchFamily="34" charset="0"/>
                <a:ea typeface="Calibri" pitchFamily="34" charset="-122"/>
                <a:cs typeface="Calibri" pitchFamily="34" charset="-120"/>
              </a:rPr>
              <a:t> </a:t>
            </a:r>
            <a:r>
              <a:rPr lang="en-US" sz="1200" dirty="0" err="1">
                <a:solidFill>
                  <a:srgbClr val="5A6270"/>
                </a:solidFill>
                <a:latin typeface="Calibri" pitchFamily="34" charset="0"/>
                <a:ea typeface="Calibri" pitchFamily="34" charset="-122"/>
                <a:cs typeface="Calibri" pitchFamily="34" charset="-120"/>
              </a:rPr>
              <a:t>alternativa</a:t>
            </a:r>
            <a:r>
              <a:rPr lang="en-US" sz="1200" dirty="0">
                <a:solidFill>
                  <a:srgbClr val="5A6270"/>
                </a:solidFill>
                <a:latin typeface="Calibri" pitchFamily="34" charset="0"/>
                <a:ea typeface="Calibri" pitchFamily="34" charset="-122"/>
                <a:cs typeface="Calibri" pitchFamily="34" charset="-120"/>
              </a:rPr>
              <a:t> (PSPs </a:t>
            </a:r>
            <a:r>
              <a:rPr lang="en-US" sz="1200" dirty="0" err="1">
                <a:solidFill>
                  <a:srgbClr val="5A6270"/>
                </a:solidFill>
                <a:latin typeface="Calibri" pitchFamily="34" charset="0"/>
                <a:ea typeface="Calibri" pitchFamily="34" charset="-122"/>
                <a:cs typeface="Calibri" pitchFamily="34" charset="-120"/>
              </a:rPr>
              <a:t>que</a:t>
            </a:r>
            <a:r>
              <a:rPr lang="en-US" sz="1200" dirty="0">
                <a:solidFill>
                  <a:srgbClr val="5A6270"/>
                </a:solidFill>
                <a:latin typeface="Calibri" pitchFamily="34" charset="0"/>
                <a:ea typeface="Calibri" pitchFamily="34" charset="-122"/>
                <a:cs typeface="Calibri" pitchFamily="34" charset="-120"/>
              </a:rPr>
              <a:t> </a:t>
            </a:r>
            <a:r>
              <a:rPr lang="en-US" sz="1200" dirty="0" err="1">
                <a:solidFill>
                  <a:srgbClr val="5A6270"/>
                </a:solidFill>
                <a:latin typeface="Calibri" pitchFamily="34" charset="0"/>
                <a:ea typeface="Calibri" pitchFamily="34" charset="-122"/>
                <a:cs typeface="Calibri" pitchFamily="34" charset="-120"/>
              </a:rPr>
              <a:t>migran</a:t>
            </a:r>
            <a:r>
              <a:rPr lang="en-US" sz="1200" dirty="0">
                <a:solidFill>
                  <a:srgbClr val="5A6270"/>
                </a:solidFill>
                <a:latin typeface="Calibri" pitchFamily="34" charset="0"/>
                <a:ea typeface="Calibri" pitchFamily="34" charset="-122"/>
                <a:cs typeface="Calibri" pitchFamily="34" charset="-120"/>
              </a:rPr>
              <a:t> </a:t>
            </a:r>
            <a:r>
              <a:rPr lang="en-US" sz="1200" dirty="0" err="1">
                <a:solidFill>
                  <a:srgbClr val="5A6270"/>
                </a:solidFill>
                <a:latin typeface="Calibri" pitchFamily="34" charset="0"/>
                <a:ea typeface="Calibri" pitchFamily="34" charset="-122"/>
                <a:cs typeface="Calibri" pitchFamily="34" charset="-120"/>
              </a:rPr>
              <a:t>fondeo</a:t>
            </a:r>
            <a:r>
              <a:rPr lang="en-US" sz="1200" dirty="0">
                <a:solidFill>
                  <a:srgbClr val="5A6270"/>
                </a:solidFill>
                <a:latin typeface="Calibri" pitchFamily="34" charset="0"/>
                <a:ea typeface="Calibri" pitchFamily="34" charset="-122"/>
                <a:cs typeface="Calibri" pitchFamily="34" charset="-120"/>
              </a:rPr>
              <a:t> a FCIs)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2342382442"/>
              </p:ext>
            </p:extLst>
          </p:nvPr>
        </p:nvGraphicFramePr>
        <p:xfrm>
          <a:off x="502920" y="1115568"/>
          <a:ext cx="8138160" cy="2286000"/>
        </p:xfrm>
        <a:graphic>
          <a:graphicData uri="http://schemas.openxmlformats.org/drawingml/2006/table">
            <a:tbl>
              <a:tblPr/>
              <a:tblGrid>
                <a:gridCol w="8686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Norma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Vigencia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Exigencia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7988</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15-abr-2024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0% → 10%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8000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15-may-2024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10% → 15%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8119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1-nov-2024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15% → 20%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8189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31-ene-2025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Sin cambio de alícuota: extiende el tratamiento a los depósitos a plazo con opción de cancelación anticipada, desde el día en que la opción puede ejercerse.</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8281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1-ago-2025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20% → 30%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8289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1-ago-2025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30% → 40%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6"/>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8306</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1-sep-2025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Exigencia adicional de 3,5 p.p. sobre las obligaciones en pesos.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7"/>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8355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1-dic-2025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Deja sin efecto los 3,5 p.p. adicionales. </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4"/>
          <p:cNvSpPr/>
          <p:nvPr/>
        </p:nvSpPr>
        <p:spPr>
          <a:xfrm>
            <a:off x="667512" y="3401568"/>
            <a:ext cx="7808976" cy="969264"/>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1100" dirty="0">
                <a:solidFill>
                  <a:srgbClr val="202124"/>
                </a:solidFill>
                <a:latin typeface="Calibri" pitchFamily="34" charset="0"/>
                <a:ea typeface="Calibri" pitchFamily="34" charset="-122"/>
                <a:cs typeface="Calibri" pitchFamily="34" charset="-120"/>
              </a:rPr>
              <a:t>Las subas de julio y agosto de 2025 siguen al desarme de la LEFI del 10 de julio de 2025.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363494" cy="457200"/>
          </a:xfrm>
          <a:prstGeom prst="rect">
            <a:avLst/>
          </a:prstGeom>
          <a:noFill/>
          <a:ln/>
        </p:spPr>
        <p:txBody>
          <a:bodyPr wrap="square" lIns="0" tIns="0" rIns="0" bIns="0" rtlCol="0" anchor="ctr"/>
          <a:lstStyle/>
          <a:p>
            <a:pPr marL="0" indent="0">
              <a:buNone/>
            </a:pPr>
            <a:r>
              <a:rPr lang="en-US" sz="2000" b="1" dirty="0">
                <a:solidFill>
                  <a:srgbClr val="1F3864"/>
                </a:solidFill>
                <a:latin typeface="Calibri" pitchFamily="34" charset="0"/>
                <a:ea typeface="Calibri" pitchFamily="34" charset="-122"/>
                <a:cs typeface="Calibri" pitchFamily="34" charset="-120"/>
              </a:rPr>
              <a:t>Punto de </a:t>
            </a:r>
            <a:r>
              <a:rPr lang="en-US" sz="2000" b="1" dirty="0" err="1">
                <a:solidFill>
                  <a:srgbClr val="1F3864"/>
                </a:solidFill>
                <a:latin typeface="Calibri" pitchFamily="34" charset="0"/>
                <a:ea typeface="Calibri" pitchFamily="34" charset="-122"/>
                <a:cs typeface="Calibri" pitchFamily="34" charset="-120"/>
              </a:rPr>
              <a:t>partida</a:t>
            </a:r>
            <a:r>
              <a:rPr lang="en-US" sz="2000" b="1" dirty="0">
                <a:solidFill>
                  <a:srgbClr val="1F3864"/>
                </a:solidFill>
                <a:latin typeface="Calibri" pitchFamily="34" charset="0"/>
                <a:ea typeface="Calibri" pitchFamily="34" charset="-122"/>
                <a:cs typeface="Calibri" pitchFamily="34" charset="-120"/>
              </a:rPr>
              <a:t> </a:t>
            </a:r>
            <a:r>
              <a:rPr lang="en-US" sz="2000" b="1" dirty="0" err="1">
                <a:solidFill>
                  <a:srgbClr val="1F3864"/>
                </a:solidFill>
                <a:latin typeface="Calibri" pitchFamily="34" charset="0"/>
                <a:ea typeface="Calibri" pitchFamily="34" charset="-122"/>
                <a:cs typeface="Calibri" pitchFamily="34" charset="-120"/>
              </a:rPr>
              <a:t>interoperabilidad</a:t>
            </a:r>
            <a:r>
              <a:rPr lang="en-US" sz="2000" b="1" dirty="0">
                <a:solidFill>
                  <a:srgbClr val="1F3864"/>
                </a:solidFill>
                <a:latin typeface="Calibri" pitchFamily="34" charset="0"/>
                <a:ea typeface="Calibri" pitchFamily="34" charset="-122"/>
                <a:cs typeface="Calibri" pitchFamily="34" charset="-120"/>
              </a:rPr>
              <a:t> (2016–2019)</a:t>
            </a:r>
            <a:endParaRPr lang="en-US" sz="2000" dirty="0"/>
          </a:p>
        </p:txBody>
      </p:sp>
      <p:sp>
        <p:nvSpPr>
          <p:cNvPr id="3" name="Text 1"/>
          <p:cNvSpPr/>
          <p:nvPr/>
        </p:nvSpPr>
        <p:spPr>
          <a:xfrm>
            <a:off x="502920" y="768096"/>
            <a:ext cx="8138160" cy="274320"/>
          </a:xfrm>
          <a:prstGeom prst="rect">
            <a:avLst/>
          </a:prstGeom>
          <a:noFill/>
          <a:ln/>
        </p:spPr>
        <p:txBody>
          <a:bodyPr wrap="square" lIns="0" tIns="0" rIns="0" bIns="0" rtlCol="0" anchor="ctr"/>
          <a:lstStyle/>
          <a:p>
            <a:pPr marL="0" indent="0">
              <a:buNone/>
            </a:pPr>
            <a:r>
              <a:rPr lang="en-US" sz="1200" dirty="0">
                <a:solidFill>
                  <a:srgbClr val="5A6270"/>
                </a:solidFill>
                <a:latin typeface="Calibri" pitchFamily="34" charset="0"/>
                <a:ea typeface="Calibri" pitchFamily="34" charset="-122"/>
                <a:cs typeface="Calibri" pitchFamily="34" charset="-120"/>
              </a:rPr>
              <a:t>Las transferencias entre cuentas quedaron equiparadas antes de Transferencias 3.0.</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115568"/>
          <a:ext cx="8138160" cy="1737360"/>
        </p:xfrm>
        <a:graphic>
          <a:graphicData uri="http://schemas.openxmlformats.org/drawingml/2006/table">
            <a:tbl>
              <a:tblPr/>
              <a:tblGrid>
                <a:gridCol w="960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Norma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Vigencia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Qué establece</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6044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oct-2016</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Crea el alias-CBU. Alcanza solo a cuentas bancarias.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6099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15-nov-2016</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Crea el DEBIN, esquema de débito inmediato con autorización del titular.</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6510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sep-2018</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Crea la CVU, con alias en el mismo espacio de nombres que el CBU. Las entidades quedan obligadas a procesar transferencias contra CVU.</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CIMPRA 518</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jul-2018</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Fija la operatoria: CVU→CBU, CBU→CVU y CVU→CVU, con acreditación inmediata y sin posibilidad de rechazo.</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6697</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30-jun-2019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Las transferencias que involucren una CVU deben cursarse en idénticas condiciones que las de CBU, en todos los canales electrónicos.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667512" y="3479292"/>
            <a:ext cx="7808976" cy="896112"/>
          </a:xfrm>
          <a:prstGeom prst="rect">
            <a:avLst/>
          </a:prstGeom>
          <a:noFill/>
          <a:ln/>
        </p:spPr>
        <p:txBody>
          <a:bodyPr wrap="square" lIns="0" tIns="0" rIns="0" bIns="0" rtlCol="0" anchor="ctr"/>
          <a:lstStyle/>
          <a:p>
            <a:pPr marL="342900" indent="-342900">
              <a:lnSpc>
                <a:spcPts val="1300"/>
              </a:lnSpc>
              <a:spcAft>
                <a:spcPts val="300"/>
              </a:spcAft>
              <a:buSzPct val="100000"/>
              <a:buChar char="•"/>
            </a:pPr>
            <a:r>
              <a:rPr lang="en-US" sz="1100" b="1" dirty="0">
                <a:solidFill>
                  <a:srgbClr val="202124"/>
                </a:solidFill>
                <a:latin typeface="Calibri" pitchFamily="34" charset="0"/>
                <a:ea typeface="Calibri" pitchFamily="34" charset="-122"/>
                <a:cs typeface="Calibri" pitchFamily="34" charset="-120"/>
              </a:rPr>
              <a:t>Cada billetera operaba su propio código QR y su </a:t>
            </a:r>
            <a:r>
              <a:rPr lang="en-US" sz="1100" b="1" dirty="0" err="1">
                <a:solidFill>
                  <a:srgbClr val="202124"/>
                </a:solidFill>
                <a:latin typeface="Calibri" pitchFamily="34" charset="0"/>
                <a:ea typeface="Calibri" pitchFamily="34" charset="-122"/>
                <a:cs typeface="Calibri" pitchFamily="34" charset="-120"/>
              </a:rPr>
              <a:t>propio</a:t>
            </a:r>
            <a:r>
              <a:rPr lang="en-US" sz="1100" b="1" dirty="0">
                <a:solidFill>
                  <a:srgbClr val="202124"/>
                </a:solidFill>
                <a:latin typeface="Calibri" pitchFamily="34" charset="0"/>
                <a:ea typeface="Calibri" pitchFamily="34" charset="-122"/>
                <a:cs typeface="Calibri" pitchFamily="34" charset="-120"/>
              </a:rPr>
              <a:t> </a:t>
            </a:r>
            <a:r>
              <a:rPr lang="en-US" sz="1100" b="1" dirty="0" err="1">
                <a:solidFill>
                  <a:srgbClr val="202124"/>
                </a:solidFill>
                <a:latin typeface="Calibri" pitchFamily="34" charset="0"/>
                <a:ea typeface="Calibri" pitchFamily="34" charset="-122"/>
                <a:cs typeface="Calibri" pitchFamily="34" charset="-120"/>
              </a:rPr>
              <a:t>esquema</a:t>
            </a:r>
            <a:r>
              <a:rPr lang="en-US" sz="1100" b="1" dirty="0">
                <a:solidFill>
                  <a:srgbClr val="202124"/>
                </a:solidFill>
                <a:latin typeface="Calibri" pitchFamily="34" charset="0"/>
                <a:ea typeface="Calibri" pitchFamily="34" charset="-122"/>
                <a:cs typeface="Calibri" pitchFamily="34" charset="-120"/>
              </a:rPr>
              <a:t>.</a:t>
            </a:r>
            <a:endParaRPr lang="en-US" sz="1100" b="1" dirty="0"/>
          </a:p>
          <a:p>
            <a:pPr marL="342900" indent="-342900">
              <a:lnSpc>
                <a:spcPts val="1300"/>
              </a:lnSpc>
              <a:spcAft>
                <a:spcPts val="300"/>
              </a:spcAft>
              <a:buSzPct val="100000"/>
              <a:buChar char="•"/>
            </a:pPr>
            <a:r>
              <a:rPr lang="en-US" sz="1100" dirty="0">
                <a:solidFill>
                  <a:srgbClr val="202124"/>
                </a:solidFill>
                <a:latin typeface="Calibri" pitchFamily="34" charset="0"/>
                <a:ea typeface="Calibri" pitchFamily="34" charset="-122"/>
                <a:cs typeface="Calibri" pitchFamily="34" charset="-120"/>
              </a:rPr>
              <a:t>La equiparación normativa de 2019 no fue </a:t>
            </a:r>
            <a:r>
              <a:rPr lang="en-US" sz="1100" dirty="0" err="1">
                <a:solidFill>
                  <a:srgbClr val="202124"/>
                </a:solidFill>
                <a:latin typeface="Calibri" pitchFamily="34" charset="0"/>
                <a:ea typeface="Calibri" pitchFamily="34" charset="-122"/>
                <a:cs typeface="Calibri" pitchFamily="34" charset="-120"/>
              </a:rPr>
              <a:t>inmediata</a:t>
            </a:r>
            <a:r>
              <a:rPr lang="en-US" sz="1100" dirty="0">
                <a:solidFill>
                  <a:srgbClr val="202124"/>
                </a:solidFill>
                <a:latin typeface="Calibri" pitchFamily="34" charset="0"/>
                <a:ea typeface="Calibri" pitchFamily="34" charset="-122"/>
                <a:cs typeface="Calibri" pitchFamily="34" charset="-120"/>
              </a:rPr>
              <a:t> </a:t>
            </a:r>
            <a:r>
              <a:rPr lang="en-US" sz="1100" dirty="0" err="1">
                <a:solidFill>
                  <a:srgbClr val="202124"/>
                </a:solidFill>
                <a:latin typeface="Calibri" pitchFamily="34" charset="0"/>
                <a:ea typeface="Calibri" pitchFamily="34" charset="-122"/>
                <a:cs typeface="Calibri" pitchFamily="34" charset="-120"/>
              </a:rPr>
              <a:t>porque</a:t>
            </a:r>
            <a:r>
              <a:rPr lang="en-US" sz="1100" dirty="0">
                <a:solidFill>
                  <a:srgbClr val="202124"/>
                </a:solidFill>
                <a:latin typeface="Calibri" pitchFamily="34" charset="0"/>
                <a:ea typeface="Calibri" pitchFamily="34" charset="-122"/>
                <a:cs typeface="Calibri" pitchFamily="34" charset="-120"/>
              </a:rPr>
              <a:t> hasta fines de 2021 las entidades aplicaron topes y demoras sobre CBU→CVU, y el 16 de diciembre de 2021 el BCRA las intimó formalmente.</a:t>
            </a:r>
            <a:endParaRPr lang="en-US" sz="1100" dirty="0"/>
          </a:p>
        </p:txBody>
      </p:sp>
      <p:sp>
        <p:nvSpPr>
          <p:cNvPr id="5" name="Text 3">
            <a:extLst>
              <a:ext uri="{FF2B5EF4-FFF2-40B4-BE49-F238E27FC236}">
                <a16:creationId xmlns:a16="http://schemas.microsoft.com/office/drawing/2014/main" id="{5B453878-C3B9-1173-BC1E-5D10C76A3708}"/>
              </a:ext>
            </a:extLst>
          </p:cNvPr>
          <p:cNvSpPr/>
          <p:nvPr/>
        </p:nvSpPr>
        <p:spPr>
          <a:xfrm>
            <a:off x="667512" y="3366624"/>
            <a:ext cx="7808976"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Puntos </a:t>
            </a:r>
            <a:r>
              <a:rPr lang="en-US" sz="1200" b="1" dirty="0" err="1">
                <a:solidFill>
                  <a:srgbClr val="1F3864"/>
                </a:solidFill>
                <a:latin typeface="Calibri" pitchFamily="34" charset="0"/>
                <a:ea typeface="Calibri" pitchFamily="34" charset="-122"/>
                <a:cs typeface="Calibri" pitchFamily="34" charset="-120"/>
              </a:rPr>
              <a:t>relevantes</a:t>
            </a:r>
            <a:r>
              <a:rPr lang="en-US" sz="1200" b="1" dirty="0">
                <a:solidFill>
                  <a:srgbClr val="1F3864"/>
                </a:solidFill>
                <a:latin typeface="Calibri" pitchFamily="34" charset="0"/>
                <a:ea typeface="Calibri" pitchFamily="34" charset="-122"/>
                <a:cs typeface="Calibri" pitchFamily="34" charset="-120"/>
              </a:rPr>
              <a:t> para </a:t>
            </a:r>
            <a:r>
              <a:rPr lang="en-US" sz="1200" b="1" dirty="0" err="1">
                <a:solidFill>
                  <a:srgbClr val="1F3864"/>
                </a:solidFill>
                <a:latin typeface="Calibri" pitchFamily="34" charset="0"/>
                <a:ea typeface="Calibri" pitchFamily="34" charset="-122"/>
                <a:cs typeface="Calibri" pitchFamily="34" charset="-120"/>
              </a:rPr>
              <a:t>el</a:t>
            </a:r>
            <a:r>
              <a:rPr lang="en-US" sz="1200" b="1" dirty="0">
                <a:solidFill>
                  <a:srgbClr val="1F3864"/>
                </a:solidFill>
                <a:latin typeface="Calibri" pitchFamily="34" charset="0"/>
                <a:ea typeface="Calibri" pitchFamily="34" charset="-122"/>
                <a:cs typeface="Calibri" pitchFamily="34" charset="-120"/>
              </a:rPr>
              <a:t> </a:t>
            </a:r>
            <a:r>
              <a:rPr lang="en-US" sz="1200" b="1" dirty="0" err="1">
                <a:solidFill>
                  <a:srgbClr val="1F3864"/>
                </a:solidFill>
                <a:latin typeface="Calibri" pitchFamily="34" charset="0"/>
                <a:ea typeface="Calibri" pitchFamily="34" charset="-122"/>
                <a:cs typeface="Calibri" pitchFamily="34" charset="-120"/>
              </a:rPr>
              <a:t>caso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err="1">
                <a:solidFill>
                  <a:srgbClr val="1F3864"/>
                </a:solidFill>
                <a:latin typeface="Calibri" pitchFamily="34" charset="0"/>
                <a:ea typeface="Calibri" pitchFamily="34" charset="-122"/>
                <a:cs typeface="Calibri" pitchFamily="34" charset="-120"/>
              </a:rPr>
              <a:t>Transferencias</a:t>
            </a:r>
            <a:r>
              <a:rPr lang="en-US" sz="2200" b="1" dirty="0">
                <a:solidFill>
                  <a:srgbClr val="1F3864"/>
                </a:solidFill>
                <a:latin typeface="Calibri" pitchFamily="34" charset="0"/>
                <a:ea typeface="Calibri" pitchFamily="34" charset="-122"/>
                <a:cs typeface="Calibri" pitchFamily="34" charset="-120"/>
              </a:rPr>
              <a:t> 3.0 y el QR por transferencia (2020–2022)</a:t>
            </a:r>
            <a:endParaRPr lang="en-US" sz="2200" dirty="0"/>
          </a:p>
        </p:txBody>
      </p:sp>
      <p:sp>
        <p:nvSpPr>
          <p:cNvPr id="4" name="Text 2"/>
          <p:cNvSpPr/>
          <p:nvPr/>
        </p:nvSpPr>
        <p:spPr>
          <a:xfrm>
            <a:off x="569540" y="749808"/>
            <a:ext cx="7808976" cy="992124"/>
          </a:xfrm>
          <a:prstGeom prst="rect">
            <a:avLst/>
          </a:prstGeom>
          <a:noFill/>
          <a:ln/>
        </p:spPr>
        <p:txBody>
          <a:bodyPr wrap="square" lIns="0" tIns="0" rIns="0" bIns="0" rtlCol="0" anchor="ctr"/>
          <a:lstStyle/>
          <a:p>
            <a:pPr marL="171450" indent="-171450">
              <a:lnSpc>
                <a:spcPts val="1400"/>
              </a:lnSpc>
              <a:buFont typeface="Arial" panose="020B0604020202020204" pitchFamily="34" charset="0"/>
              <a:buChar char="•"/>
            </a:pPr>
            <a:r>
              <a:rPr lang="en-US" sz="1100" dirty="0" err="1">
                <a:solidFill>
                  <a:srgbClr val="202124"/>
                </a:solidFill>
                <a:latin typeface="Calibri" pitchFamily="34" charset="0"/>
                <a:ea typeface="Calibri" pitchFamily="34" charset="-122"/>
                <a:cs typeface="Calibri" pitchFamily="34" charset="-120"/>
              </a:rPr>
              <a:t>Transferencias</a:t>
            </a:r>
            <a:r>
              <a:rPr lang="en-US" sz="1100" dirty="0">
                <a:solidFill>
                  <a:srgbClr val="202124"/>
                </a:solidFill>
                <a:latin typeface="Calibri" pitchFamily="34" charset="0"/>
                <a:ea typeface="Calibri" pitchFamily="34" charset="-122"/>
                <a:cs typeface="Calibri" pitchFamily="34" charset="-120"/>
              </a:rPr>
              <a:t> 3.0 es el esquema abierto de </a:t>
            </a:r>
            <a:r>
              <a:rPr lang="en-US" sz="1100" b="1" dirty="0">
                <a:solidFill>
                  <a:srgbClr val="202124"/>
                </a:solidFill>
                <a:latin typeface="Calibri" pitchFamily="34" charset="0"/>
                <a:ea typeface="Calibri" pitchFamily="34" charset="-122"/>
                <a:cs typeface="Calibri" pitchFamily="34" charset="-120"/>
              </a:rPr>
              <a:t>pago con transferencia (PCT)</a:t>
            </a:r>
            <a:r>
              <a:rPr lang="en-US" sz="1100" dirty="0">
                <a:solidFill>
                  <a:srgbClr val="202124"/>
                </a:solidFill>
                <a:latin typeface="Calibri" pitchFamily="34" charset="0"/>
                <a:ea typeface="Calibri" pitchFamily="34" charset="-122"/>
                <a:cs typeface="Calibri" pitchFamily="34" charset="-120"/>
              </a:rPr>
              <a:t> creado por la Com. “A” 7153. </a:t>
            </a:r>
          </a:p>
          <a:p>
            <a:pPr marL="171450" indent="-171450">
              <a:lnSpc>
                <a:spcPts val="1400"/>
              </a:lnSpc>
              <a:buFont typeface="Arial" panose="020B0604020202020204" pitchFamily="34" charset="0"/>
              <a:buChar char="•"/>
            </a:pPr>
            <a:r>
              <a:rPr lang="en-US" sz="1100" dirty="0">
                <a:solidFill>
                  <a:srgbClr val="202124"/>
                </a:solidFill>
                <a:latin typeface="Calibri" pitchFamily="34" charset="0"/>
                <a:ea typeface="Calibri" pitchFamily="34" charset="-122"/>
                <a:cs typeface="Calibri" pitchFamily="34" charset="-120"/>
              </a:rPr>
              <a:t>Un pago con transferencia es una </a:t>
            </a:r>
            <a:r>
              <a:rPr lang="en-US" sz="1100" dirty="0" err="1">
                <a:solidFill>
                  <a:srgbClr val="202124"/>
                </a:solidFill>
                <a:latin typeface="Calibri" pitchFamily="34" charset="0"/>
                <a:ea typeface="Calibri" pitchFamily="34" charset="-122"/>
                <a:cs typeface="Calibri" pitchFamily="34" charset="-120"/>
              </a:rPr>
              <a:t>transferencia</a:t>
            </a:r>
            <a:r>
              <a:rPr lang="en-US" sz="1100" dirty="0">
                <a:solidFill>
                  <a:srgbClr val="202124"/>
                </a:solidFill>
                <a:latin typeface="Calibri" pitchFamily="34" charset="0"/>
                <a:ea typeface="Calibri" pitchFamily="34" charset="-122"/>
                <a:cs typeface="Calibri" pitchFamily="34" charset="-120"/>
              </a:rPr>
              <a:t> </a:t>
            </a:r>
            <a:r>
              <a:rPr lang="en-US" sz="1100" dirty="0" err="1">
                <a:solidFill>
                  <a:srgbClr val="202124"/>
                </a:solidFill>
                <a:latin typeface="Calibri" pitchFamily="34" charset="0"/>
                <a:ea typeface="Calibri" pitchFamily="34" charset="-122"/>
                <a:cs typeface="Calibri" pitchFamily="34" charset="-120"/>
              </a:rPr>
              <a:t>inmediata</a:t>
            </a:r>
            <a:r>
              <a:rPr lang="en-US" sz="1100" dirty="0">
                <a:solidFill>
                  <a:srgbClr val="202124"/>
                </a:solidFill>
                <a:latin typeface="Calibri" pitchFamily="34" charset="0"/>
                <a:ea typeface="Calibri" pitchFamily="34" charset="-122"/>
                <a:cs typeface="Calibri" pitchFamily="34" charset="-120"/>
              </a:rPr>
              <a:t>, normalmente mediante código QR, acreditada en segundos en la cuenta del </a:t>
            </a:r>
            <a:r>
              <a:rPr lang="en-US" sz="1100" dirty="0" err="1">
                <a:solidFill>
                  <a:srgbClr val="202124"/>
                </a:solidFill>
                <a:latin typeface="Calibri" pitchFamily="34" charset="0"/>
                <a:ea typeface="Calibri" pitchFamily="34" charset="-122"/>
                <a:cs typeface="Calibri" pitchFamily="34" charset="-120"/>
              </a:rPr>
              <a:t>comercio</a:t>
            </a:r>
            <a:r>
              <a:rPr lang="en-US" sz="1100" dirty="0">
                <a:solidFill>
                  <a:srgbClr val="202124"/>
                </a:solidFill>
                <a:latin typeface="Calibri" pitchFamily="34" charset="0"/>
                <a:ea typeface="Calibri" pitchFamily="34" charset="-122"/>
                <a:cs typeface="Calibri" pitchFamily="34" charset="-120"/>
              </a:rPr>
              <a:t>.</a:t>
            </a:r>
          </a:p>
        </p:txBody>
      </p:sp>
      <p:graphicFrame>
        <p:nvGraphicFramePr>
          <p:cNvPr id="5" name="Table 0"/>
          <p:cNvGraphicFramePr>
            <a:graphicFrameLocks noGrp="1"/>
          </p:cNvGraphicFramePr>
          <p:nvPr>
            <p:extLst>
              <p:ext uri="{D42A27DB-BD31-4B8C-83A1-F6EECF244321}">
                <p14:modId xmlns:p14="http://schemas.microsoft.com/office/powerpoint/2010/main" val="1863075446"/>
              </p:ext>
            </p:extLst>
          </p:nvPr>
        </p:nvGraphicFramePr>
        <p:xfrm>
          <a:off x="502920" y="1741932"/>
          <a:ext cx="8138160" cy="1577340"/>
        </p:xfrm>
        <a:graphic>
          <a:graphicData uri="http://schemas.openxmlformats.org/drawingml/2006/table">
            <a:tbl>
              <a:tblPr/>
              <a:tblGrid>
                <a:gridCol w="8686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Norma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Vigencia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Qué establece</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7153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7-dic-2020</a:t>
                      </a:r>
                      <a:endParaRPr lang="en-US" sz="1050" b="1"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Crea el esquema, el instrumento PCT y las normas complementarias. Arancel al comercio con tope de 0,8%.</a:t>
                      </a:r>
                      <a:endParaRPr lang="en-US" sz="1050" b="1"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7361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9-sep-2021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Acreditación en 15 segundos, disponibilidad 24×7 y límites mínimos expresados en UVA.</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7367</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oct-2021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Prohibe conductas anticompetitivas a los administradores de esquema que también actúan como participantes.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7400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29-nov-2021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Vigencia plena: </a:t>
                      </a:r>
                      <a:r>
                        <a:rPr lang="en-US" sz="1050" b="1" dirty="0">
                          <a:solidFill>
                            <a:srgbClr val="202124"/>
                          </a:solidFill>
                          <a:latin typeface="Calibri" pitchFamily="34" charset="0"/>
                          <a:ea typeface="Calibri" pitchFamily="34" charset="-122"/>
                          <a:cs typeface="Calibri" pitchFamily="34" charset="-120"/>
                        </a:rPr>
                        <a:t>toda billetera debe poder leer todo código QR para pagar por transferencia.</a:t>
                      </a:r>
                      <a:endParaRPr lang="en-US" sz="1050" b="1"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7462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abr–jun 2022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Crea el Registro de Billeteras Digitales Interoperables. El administrador de esquema no puede habilitar un QR sin constatar que puede ser leído por todas las entidades financieras y PSP.</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02920" y="3858768"/>
            <a:ext cx="8138160" cy="27432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b="1" dirty="0">
                <a:latin typeface="Calibri" pitchFamily="34" charset="0"/>
                <a:ea typeface="Calibri" pitchFamily="34" charset="-122"/>
                <a:cs typeface="Calibri" pitchFamily="34" charset="-120"/>
              </a:rPr>
              <a:t>Esta </a:t>
            </a:r>
            <a:r>
              <a:rPr lang="en-US" sz="1100" b="1" dirty="0" err="1">
                <a:latin typeface="Calibri" pitchFamily="34" charset="0"/>
                <a:ea typeface="Calibri" pitchFamily="34" charset="-122"/>
                <a:cs typeface="Calibri" pitchFamily="34" charset="-120"/>
              </a:rPr>
              <a:t>etapa</a:t>
            </a:r>
            <a:r>
              <a:rPr lang="en-US" sz="1100" b="1" dirty="0">
                <a:latin typeface="Calibri" pitchFamily="34" charset="0"/>
                <a:ea typeface="Calibri" pitchFamily="34" charset="-122"/>
                <a:cs typeface="Calibri" pitchFamily="34" charset="-120"/>
              </a:rPr>
              <a:t> abre únicamente el QR fondeado por transferencia. El QR fondeado con tarjeta permanece cerrado hasta 2024.</a:t>
            </a:r>
            <a:endParaRPr lang="en-US" sz="11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Extensiones de Transferencias 3.0 (2022–2025)</a:t>
            </a:r>
            <a:endParaRPr lang="en-US" sz="2200" dirty="0"/>
          </a:p>
        </p:txBody>
      </p:sp>
      <p:sp>
        <p:nvSpPr>
          <p:cNvPr id="3" name="Text 1"/>
          <p:cNvSpPr/>
          <p:nvPr/>
        </p:nvSpPr>
        <p:spPr>
          <a:xfrm>
            <a:off x="502920" y="768096"/>
            <a:ext cx="8138160" cy="274320"/>
          </a:xfrm>
          <a:prstGeom prst="rect">
            <a:avLst/>
          </a:prstGeom>
          <a:noFill/>
          <a:ln/>
        </p:spPr>
        <p:txBody>
          <a:bodyPr wrap="square" lIns="0" tIns="0" rIns="0" bIns="0" rtlCol="0" anchor="t"/>
          <a:lstStyle/>
          <a:p>
            <a:pPr marL="0" indent="0">
              <a:lnSpc>
                <a:spcPts val="1500"/>
              </a:lnSpc>
              <a:buNone/>
            </a:pPr>
            <a:r>
              <a:rPr lang="en-US" sz="1200" dirty="0">
                <a:solidFill>
                  <a:srgbClr val="5A6270"/>
                </a:solidFill>
                <a:latin typeface="Calibri" pitchFamily="34" charset="0"/>
                <a:ea typeface="Calibri" pitchFamily="34" charset="-122"/>
                <a:cs typeface="Calibri" pitchFamily="34" charset="-120"/>
              </a:rPr>
              <a:t>Normas posteriores, ordenadas por fecha de vigencia efectiva.</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4225195552"/>
              </p:ext>
            </p:extLst>
          </p:nvPr>
        </p:nvGraphicFramePr>
        <p:xfrm>
          <a:off x="502920" y="1115568"/>
          <a:ext cx="8138160" cy="1577340"/>
        </p:xfrm>
        <a:graphic>
          <a:graphicData uri="http://schemas.openxmlformats.org/drawingml/2006/table">
            <a:tbl>
              <a:tblPr/>
              <a:tblGrid>
                <a:gridCol w="868680">
                  <a:extLst>
                    <a:ext uri="{9D8B030D-6E8A-4147-A177-3AD203B41FA5}">
                      <a16:colId xmlns:a16="http://schemas.microsoft.com/office/drawing/2014/main" val="20000"/>
                    </a:ext>
                  </a:extLst>
                </a:gridCol>
                <a:gridCol w="1053193">
                  <a:extLst>
                    <a:ext uri="{9D8B030D-6E8A-4147-A177-3AD203B41FA5}">
                      <a16:colId xmlns:a16="http://schemas.microsoft.com/office/drawing/2014/main" val="20001"/>
                    </a:ext>
                  </a:extLst>
                </a:gridCol>
                <a:gridCol w="6216287">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Norma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Vigencia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Qué establece</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7514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30-sep-2022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Transferencias pull: la billetera puede debitar una cuenta de </a:t>
                      </a:r>
                      <a:r>
                        <a:rPr lang="en-US" sz="1050" b="1" dirty="0" err="1">
                          <a:solidFill>
                            <a:srgbClr val="202124"/>
                          </a:solidFill>
                          <a:latin typeface="Calibri" pitchFamily="34" charset="0"/>
                          <a:ea typeface="Calibri" pitchFamily="34" charset="-122"/>
                          <a:cs typeface="Calibri" pitchFamily="34" charset="-120"/>
                        </a:rPr>
                        <a:t>otra</a:t>
                      </a:r>
                      <a:r>
                        <a:rPr lang="en-US" sz="1050" b="1" dirty="0">
                          <a:solidFill>
                            <a:srgbClr val="202124"/>
                          </a:solidFill>
                          <a:latin typeface="Calibri" pitchFamily="34" charset="0"/>
                          <a:ea typeface="Calibri" pitchFamily="34" charset="-122"/>
                          <a:cs typeface="Calibri" pitchFamily="34" charset="-120"/>
                        </a:rPr>
                        <a:t> </a:t>
                      </a:r>
                      <a:r>
                        <a:rPr lang="en-US" sz="1050" b="1" dirty="0" err="1">
                          <a:solidFill>
                            <a:srgbClr val="202124"/>
                          </a:solidFill>
                          <a:latin typeface="Calibri" pitchFamily="34" charset="0"/>
                          <a:ea typeface="Calibri" pitchFamily="34" charset="-122"/>
                          <a:cs typeface="Calibri" pitchFamily="34" charset="-120"/>
                        </a:rPr>
                        <a:t>entidad</a:t>
                      </a:r>
                      <a:r>
                        <a:rPr lang="en-US" sz="1050" b="1" dirty="0">
                          <a:solidFill>
                            <a:srgbClr val="202124"/>
                          </a:solidFill>
                          <a:latin typeface="Calibri" pitchFamily="34" charset="0"/>
                          <a:ea typeface="Calibri" pitchFamily="34" charset="-122"/>
                          <a:cs typeface="Calibri" pitchFamily="34" charset="-120"/>
                        </a:rPr>
                        <a:t>, con consentimiento del titular.</a:t>
                      </a:r>
                      <a:endParaRPr lang="en-US" sz="1050" b="1"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7769</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30-abr-2024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Todo QR que acepte tarjeta de crédito debe aceptar también PCT y poder ser usado por </a:t>
                      </a:r>
                      <a:r>
                        <a:rPr lang="en-US" sz="1050" b="1" dirty="0" err="1">
                          <a:solidFill>
                            <a:srgbClr val="202124"/>
                          </a:solidFill>
                          <a:latin typeface="Calibri" pitchFamily="34" charset="0"/>
                          <a:ea typeface="Calibri" pitchFamily="34" charset="-122"/>
                          <a:cs typeface="Calibri" pitchFamily="34" charset="-120"/>
                        </a:rPr>
                        <a:t>cualquier</a:t>
                      </a:r>
                      <a:r>
                        <a:rPr lang="en-US" sz="1050" b="1" dirty="0">
                          <a:solidFill>
                            <a:srgbClr val="202124"/>
                          </a:solidFill>
                          <a:latin typeface="Calibri" pitchFamily="34" charset="0"/>
                          <a:ea typeface="Calibri" pitchFamily="34" charset="-122"/>
                          <a:cs typeface="Calibri" pitchFamily="34" charset="-120"/>
                        </a:rPr>
                        <a:t> </a:t>
                      </a:r>
                      <a:r>
                        <a:rPr lang="en-US" sz="1050" b="1" dirty="0" err="1">
                          <a:solidFill>
                            <a:srgbClr val="202124"/>
                          </a:solidFill>
                          <a:latin typeface="Calibri" pitchFamily="34" charset="0"/>
                          <a:ea typeface="Calibri" pitchFamily="34" charset="-122"/>
                          <a:cs typeface="Calibri" pitchFamily="34" charset="-120"/>
                        </a:rPr>
                        <a:t>billetera</a:t>
                      </a:r>
                      <a:r>
                        <a:rPr lang="en-US" sz="1050" b="1" dirty="0">
                          <a:solidFill>
                            <a:srgbClr val="202124"/>
                          </a:solidFill>
                          <a:latin typeface="Calibri" pitchFamily="34" charset="0"/>
                          <a:ea typeface="Calibri" pitchFamily="34" charset="-122"/>
                          <a:cs typeface="Calibri" pitchFamily="34" charset="-120"/>
                        </a:rPr>
                        <a:t>. </a:t>
                      </a:r>
                      <a:r>
                        <a:rPr lang="en-US" sz="1050" dirty="0" err="1">
                          <a:solidFill>
                            <a:srgbClr val="202124"/>
                          </a:solidFill>
                          <a:latin typeface="Calibri" pitchFamily="34" charset="0"/>
                          <a:ea typeface="Calibri" pitchFamily="34" charset="-122"/>
                          <a:cs typeface="Calibri" pitchFamily="34" charset="-120"/>
                        </a:rPr>
                        <a:t>Emitida</a:t>
                      </a:r>
                      <a:r>
                        <a:rPr lang="en-US" sz="1050" dirty="0">
                          <a:solidFill>
                            <a:srgbClr val="202124"/>
                          </a:solidFill>
                          <a:latin typeface="Calibri" pitchFamily="34" charset="0"/>
                          <a:ea typeface="Calibri" pitchFamily="34" charset="-122"/>
                          <a:cs typeface="Calibri" pitchFamily="34" charset="-120"/>
                        </a:rPr>
                        <a:t> el 18-may-2023, prorrogada por las A 7905 y A 7942.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7996</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30-abr-2024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Regula el pull entre cuentas del mismo titular: consentimiento por OAuth2 o tácito, arancel de 0,3% si es tácito.</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8030</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30-may-2024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Elimina el arancel del pull.</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 8206</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12-may-2025</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Extiende la interoperabilidad al QR de transporte</a:t>
                      </a:r>
                      <a:r>
                        <a:rPr lang="en-US" sz="1050" dirty="0">
                          <a:solidFill>
                            <a:srgbClr val="202124"/>
                          </a:solidFill>
                          <a:latin typeface="Calibri" pitchFamily="34" charset="0"/>
                          <a:ea typeface="Calibri" pitchFamily="34" charset="-122"/>
                          <a:cs typeface="Calibri" pitchFamily="34" charset="-120"/>
                        </a:rPr>
                        <a:t>; </a:t>
                      </a:r>
                      <a:r>
                        <a:rPr lang="en-US" sz="1050" b="1" dirty="0">
                          <a:solidFill>
                            <a:srgbClr val="202124"/>
                          </a:solidFill>
                          <a:latin typeface="Calibri" pitchFamily="34" charset="0"/>
                          <a:ea typeface="Calibri" pitchFamily="34" charset="-122"/>
                          <a:cs typeface="Calibri" pitchFamily="34" charset="-120"/>
                        </a:rPr>
                        <a:t>la implementación avanza por sistema de transporte.</a:t>
                      </a:r>
                      <a:endParaRPr lang="en-US" sz="1050" b="1"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502920" y="3270722"/>
            <a:ext cx="8138160"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Puntos relevantes para el caso</a:t>
            </a:r>
            <a:endParaRPr lang="en-US" sz="1200" dirty="0"/>
          </a:p>
        </p:txBody>
      </p:sp>
      <p:sp>
        <p:nvSpPr>
          <p:cNvPr id="6" name="Text 3"/>
          <p:cNvSpPr/>
          <p:nvPr/>
        </p:nvSpPr>
        <p:spPr>
          <a:xfrm>
            <a:off x="502920" y="3578026"/>
            <a:ext cx="8138160" cy="141732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1050" dirty="0">
                <a:solidFill>
                  <a:srgbClr val="202124"/>
                </a:solidFill>
                <a:latin typeface="Calibri" pitchFamily="34" charset="0"/>
                <a:ea typeface="Calibri" pitchFamily="34" charset="-122"/>
                <a:cs typeface="Calibri" pitchFamily="34" charset="-120"/>
              </a:rPr>
              <a:t>Abril y mayo de 2024 concentran cuatro </a:t>
            </a:r>
            <a:r>
              <a:rPr lang="en-US" sz="1050" dirty="0" err="1">
                <a:solidFill>
                  <a:srgbClr val="202124"/>
                </a:solidFill>
                <a:latin typeface="Calibri" pitchFamily="34" charset="0"/>
                <a:ea typeface="Calibri" pitchFamily="34" charset="-122"/>
                <a:cs typeface="Calibri" pitchFamily="34" charset="-120"/>
              </a:rPr>
              <a:t>normas</a:t>
            </a:r>
            <a:r>
              <a:rPr lang="en-US" sz="1050" dirty="0">
                <a:solidFill>
                  <a:srgbClr val="202124"/>
                </a:solidFill>
                <a:latin typeface="Calibri" pitchFamily="34" charset="0"/>
                <a:ea typeface="Calibri" pitchFamily="34" charset="-122"/>
                <a:cs typeface="Calibri" pitchFamily="34" charset="-120"/>
              </a:rPr>
              <a:t> y, además, el primer aumento de encaje sobre los depósitos de FCI money market (A 7988, 15-abr-2024).</a:t>
            </a:r>
            <a:endParaRPr lang="en-US" sz="1050" dirty="0"/>
          </a:p>
          <a:p>
            <a:pPr marL="342900" indent="-342900">
              <a:lnSpc>
                <a:spcPts val="1250"/>
              </a:lnSpc>
              <a:spcAft>
                <a:spcPts val="400"/>
              </a:spcAft>
              <a:buSzPct val="100000"/>
              <a:buChar char="•"/>
            </a:pPr>
            <a:r>
              <a:rPr lang="en-US" sz="1050" dirty="0">
                <a:solidFill>
                  <a:srgbClr val="202124"/>
                </a:solidFill>
                <a:latin typeface="Calibri" pitchFamily="34" charset="0"/>
                <a:ea typeface="Calibri" pitchFamily="34" charset="-122"/>
                <a:cs typeface="Calibri" pitchFamily="34" charset="-120"/>
              </a:rPr>
              <a:t>La A 8206 es la única norma del corpus cuya implementación no es </a:t>
            </a:r>
            <a:r>
              <a:rPr lang="en-US" sz="1050" dirty="0" err="1">
                <a:solidFill>
                  <a:srgbClr val="202124"/>
                </a:solidFill>
                <a:latin typeface="Calibri" pitchFamily="34" charset="0"/>
                <a:ea typeface="Calibri" pitchFamily="34" charset="-122"/>
                <a:cs typeface="Calibri" pitchFamily="34" charset="-120"/>
              </a:rPr>
              <a:t>simultánea</a:t>
            </a:r>
            <a:r>
              <a:rPr lang="en-US" sz="1050" dirty="0">
                <a:solidFill>
                  <a:srgbClr val="202124"/>
                </a:solidFill>
                <a:latin typeface="Calibri" pitchFamily="34" charset="0"/>
                <a:ea typeface="Calibri" pitchFamily="34" charset="-122"/>
                <a:cs typeface="Calibri" pitchFamily="34" charset="-120"/>
              </a:rPr>
              <a:t>, </a:t>
            </a:r>
            <a:r>
              <a:rPr lang="en-US" sz="1050" dirty="0" err="1">
                <a:solidFill>
                  <a:srgbClr val="202124"/>
                </a:solidFill>
                <a:latin typeface="Calibri" pitchFamily="34" charset="0"/>
                <a:ea typeface="Calibri" pitchFamily="34" charset="-122"/>
                <a:cs typeface="Calibri" pitchFamily="34" charset="-120"/>
              </a:rPr>
              <a:t>porque</a:t>
            </a:r>
            <a:r>
              <a:rPr lang="en-US" sz="1050" dirty="0">
                <a:solidFill>
                  <a:srgbClr val="202124"/>
                </a:solidFill>
                <a:latin typeface="Calibri" pitchFamily="34" charset="0"/>
                <a:ea typeface="Calibri" pitchFamily="34" charset="-122"/>
                <a:cs typeface="Calibri" pitchFamily="34" charset="-120"/>
              </a:rPr>
              <a:t> avanza por sistema de </a:t>
            </a:r>
            <a:r>
              <a:rPr lang="en-US" sz="1050" dirty="0" err="1">
                <a:solidFill>
                  <a:srgbClr val="202124"/>
                </a:solidFill>
                <a:latin typeface="Calibri" pitchFamily="34" charset="0"/>
                <a:ea typeface="Calibri" pitchFamily="34" charset="-122"/>
                <a:cs typeface="Calibri" pitchFamily="34" charset="-120"/>
              </a:rPr>
              <a:t>transporte</a:t>
            </a:r>
            <a:r>
              <a:rPr lang="en-US" sz="1050" dirty="0">
                <a:solidFill>
                  <a:srgbClr val="202124"/>
                </a:solidFill>
                <a:latin typeface="Calibri" pitchFamily="34" charset="0"/>
                <a:ea typeface="Calibri" pitchFamily="34" charset="-122"/>
                <a:cs typeface="Calibri" pitchFamily="34" charset="-120"/>
              </a:rPr>
              <a:t> (</a:t>
            </a:r>
            <a:r>
              <a:rPr lang="en-US" sz="1050" dirty="0" err="1">
                <a:solidFill>
                  <a:srgbClr val="202124"/>
                </a:solidFill>
                <a:latin typeface="Calibri" pitchFamily="34" charset="0"/>
                <a:ea typeface="Calibri" pitchFamily="34" charset="-122"/>
                <a:cs typeface="Calibri" pitchFamily="34" charset="-120"/>
              </a:rPr>
              <a:t>fases</a:t>
            </a:r>
            <a:r>
              <a:rPr lang="en-US" sz="1050" dirty="0">
                <a:solidFill>
                  <a:srgbClr val="202124"/>
                </a:solidFill>
                <a:latin typeface="Calibri" pitchFamily="34" charset="0"/>
                <a:ea typeface="Calibri" pitchFamily="34" charset="-122"/>
                <a:cs typeface="Calibri" pitchFamily="34" charset="-120"/>
              </a:rPr>
              <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El caso peruano: Casiano (2026)</a:t>
            </a:r>
            <a:endParaRPr lang="en-US" sz="2200" dirty="0"/>
          </a:p>
        </p:txBody>
      </p:sp>
      <p:sp>
        <p:nvSpPr>
          <p:cNvPr id="3" name="Text 1"/>
          <p:cNvSpPr/>
          <p:nvPr/>
        </p:nvSpPr>
        <p:spPr>
          <a:xfrm>
            <a:off x="502920" y="749808"/>
            <a:ext cx="8138160" cy="457200"/>
          </a:xfrm>
          <a:prstGeom prst="rect">
            <a:avLst/>
          </a:prstGeom>
          <a:noFill/>
          <a:ln/>
        </p:spPr>
        <p:txBody>
          <a:bodyPr wrap="square" lIns="0" tIns="0" rIns="0" bIns="0" rtlCol="0" anchor="t"/>
          <a:lstStyle/>
          <a:p>
            <a:pPr marL="0" indent="0">
              <a:lnSpc>
                <a:spcPts val="1500"/>
              </a:lnSpc>
              <a:buNone/>
            </a:pPr>
            <a:r>
              <a:rPr lang="en-US" sz="1200" dirty="0">
                <a:solidFill>
                  <a:srgbClr val="5A6270"/>
                </a:solidFill>
                <a:latin typeface="Calibri" pitchFamily="34" charset="0"/>
                <a:ea typeface="Calibri" pitchFamily="34" charset="-122"/>
                <a:cs typeface="Calibri" pitchFamily="34" charset="-120"/>
              </a:rPr>
              <a:t>“The War on Cash: Interoperability, Digital Payments, and Household Financial Fragility in Peru”</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49220128"/>
              </p:ext>
            </p:extLst>
          </p:nvPr>
        </p:nvGraphicFramePr>
        <p:xfrm>
          <a:off x="502920" y="1298448"/>
          <a:ext cx="8138160" cy="1661160"/>
        </p:xfrm>
        <a:graphic>
          <a:graphicData uri="http://schemas.openxmlformats.org/drawingml/2006/table">
            <a:tbl>
              <a:tblPr/>
              <a:tblGrid>
                <a:gridCol w="5029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Fase</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Fecha</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Alcance</a:t>
                      </a:r>
                      <a:endParaRPr lang="en-US" sz="1050" dirty="0">
                        <a:latin typeface="Calibri" charset="0"/>
                        <a:ea typeface="Calibri" charset="0"/>
                        <a:cs typeface="Calibri" charset="0"/>
                      </a:endParaRPr>
                    </a:p>
                  </a:txBody>
                  <a:tcPr marL="63500" marR="63500" marT="38100" marB="38100" anchor="ctr">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solidFill>
                      <a:srgbClr val="DCE3EE"/>
                    </a:solidFill>
                  </a:tcPr>
                </a:tc>
                <a:extLst>
                  <a:ext uri="{0D108BD9-81ED-4DB2-BD59-A6C34878D82A}">
                    <a16:rowId xmlns:a16="http://schemas.microsoft.com/office/drawing/2014/main" val="10000"/>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31-mar-2023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b="1" dirty="0">
                          <a:solidFill>
                            <a:srgbClr val="202124"/>
                          </a:solidFill>
                          <a:latin typeface="Calibri" pitchFamily="34" charset="0"/>
                          <a:ea typeface="Calibri" pitchFamily="34" charset="-122"/>
                          <a:cs typeface="Calibri" pitchFamily="34" charset="-120"/>
                        </a:rPr>
                        <a:t>Interoperabilidad entre los acuerdos de pago Yape (BCP) y Plin (BBVA, Scotiabank e Interbank): enviar y recibir entre ambas billeteras por número de celular o código QR</a:t>
                      </a:r>
                      <a:r>
                        <a:rPr lang="en-US" sz="1050" dirty="0">
                          <a:solidFill>
                            <a:srgbClr val="202124"/>
                          </a:solidFill>
                          <a:latin typeface="Calibri" pitchFamily="34" charset="0"/>
                          <a:ea typeface="Calibri" pitchFamily="34" charset="-122"/>
                          <a:cs typeface="Calibri" pitchFamily="34" charset="-120"/>
                        </a:rPr>
                        <a:t>. </a:t>
                      </a:r>
                    </a:p>
                    <a:p>
                      <a:pPr marL="0" indent="0">
                        <a:buNone/>
                      </a:pPr>
                      <a:r>
                        <a:rPr lang="en-US" sz="1050" dirty="0" err="1">
                          <a:solidFill>
                            <a:srgbClr val="202124"/>
                          </a:solidFill>
                          <a:latin typeface="Calibri" pitchFamily="34" charset="0"/>
                          <a:ea typeface="Calibri" pitchFamily="34" charset="-122"/>
                          <a:cs typeface="Calibri" pitchFamily="34" charset="-120"/>
                        </a:rPr>
                        <a:t>Despliegue</a:t>
                      </a:r>
                      <a:r>
                        <a:rPr lang="en-US" sz="1050" dirty="0">
                          <a:solidFill>
                            <a:srgbClr val="202124"/>
                          </a:solidFill>
                          <a:latin typeface="Calibri" pitchFamily="34" charset="0"/>
                          <a:ea typeface="Calibri" pitchFamily="34" charset="-122"/>
                          <a:cs typeface="Calibri" pitchFamily="34" charset="-120"/>
                        </a:rPr>
                        <a:t> entre el 1 de abril y el 8 de mayo de 2023.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13-sep-2023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Transferencias inmediatas cuenta a cuenta y QR interoperable entre proveedores. El plazo original era el 30-jun-2023 y se extendió por la Circular N° 0013-2023; 31-dic-2023 para entidades que aún no ofrecían transferencias inmediatas.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31-dic-2023</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Emisores de dinero electrónico, en particular el acuerdo BIM, con acceso directo o patrocinado a la CCE y al LBTR.</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Marco de pagos abiertos con iniciadores de pago y APIs estandarizadas. Queda fuera del período de análisis.</a:t>
                      </a:r>
                      <a:endParaRPr lang="en-US" sz="1050" dirty="0">
                        <a:latin typeface="Calibri" charset="0"/>
                        <a:ea typeface="Calibri" charset="0"/>
                        <a:cs typeface="Calibri" charset="0"/>
                      </a:endParaRPr>
                    </a:p>
                  </a:txBody>
                  <a:tcPr marL="63500" marR="63500" marT="38100" marB="38100">
                    <a:lnL w="6350" cap="flat" cmpd="sng" algn="ctr">
                      <a:solidFill>
                        <a:srgbClr val="C9D2E0"/>
                      </a:solidFill>
                      <a:prstDash val="solid"/>
                      <a:round/>
                      <a:headEnd type="none" w="med" len="med"/>
                      <a:tailEnd type="none" w="med" len="med"/>
                    </a:lnL>
                    <a:lnR w="6350" cap="flat" cmpd="sng" algn="ctr">
                      <a:solidFill>
                        <a:srgbClr val="C9D2E0"/>
                      </a:solidFill>
                      <a:prstDash val="solid"/>
                      <a:round/>
                      <a:headEnd type="none" w="med" len="med"/>
                      <a:tailEnd type="none" w="med" len="med"/>
                    </a:lnR>
                    <a:lnT w="6350" cap="flat" cmpd="sng" algn="ctr">
                      <a:solidFill>
                        <a:srgbClr val="C9D2E0"/>
                      </a:solidFill>
                      <a:prstDash val="solid"/>
                      <a:round/>
                      <a:headEnd type="none" w="med" len="med"/>
                      <a:tailEnd type="none" w="med" len="med"/>
                    </a:lnT>
                    <a:lnB w="6350" cap="flat" cmpd="sng" algn="ctr">
                      <a:solidFill>
                        <a:srgbClr val="C9D2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502920" y="3310128"/>
            <a:ext cx="3931920"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Datos y diseño</a:t>
            </a:r>
            <a:endParaRPr lang="en-US" sz="1200" dirty="0"/>
          </a:p>
        </p:txBody>
      </p:sp>
      <p:sp>
        <p:nvSpPr>
          <p:cNvPr id="6" name="Text 3"/>
          <p:cNvSpPr/>
          <p:nvPr/>
        </p:nvSpPr>
        <p:spPr>
          <a:xfrm>
            <a:off x="502920" y="3547872"/>
            <a:ext cx="3931920" cy="1417320"/>
          </a:xfrm>
          <a:prstGeom prst="rect">
            <a:avLst/>
          </a:prstGeom>
          <a:noFill/>
          <a:ln/>
        </p:spPr>
        <p:txBody>
          <a:bodyPr wrap="square" lIns="0" tIns="0" rIns="0" bIns="0" rtlCol="0" anchor="t"/>
          <a:lstStyle/>
          <a:p>
            <a:pPr marL="342900" indent="-342900">
              <a:lnSpc>
                <a:spcPts val="1200"/>
              </a:lnSpc>
              <a:spcAft>
                <a:spcPts val="400"/>
              </a:spcAft>
              <a:buSzPct val="100000"/>
              <a:buChar char="•"/>
            </a:pPr>
            <a:r>
              <a:rPr lang="en-US" sz="1000" dirty="0">
                <a:solidFill>
                  <a:srgbClr val="202124"/>
                </a:solidFill>
                <a:latin typeface="Calibri" pitchFamily="34" charset="0"/>
                <a:ea typeface="Calibri" pitchFamily="34" charset="-122"/>
                <a:cs typeface="Calibri" pitchFamily="34" charset="-120"/>
              </a:rPr>
              <a:t>ENAHO (INEI), microdatos trimestrales 2022–2024: 233.196 observaciones en 1.347 distritos.</a:t>
            </a:r>
            <a:endParaRPr lang="en-US" sz="1000" dirty="0"/>
          </a:p>
          <a:p>
            <a:pPr marL="342900" indent="-342900">
              <a:lnSpc>
                <a:spcPts val="1200"/>
              </a:lnSpc>
              <a:spcAft>
                <a:spcPts val="400"/>
              </a:spcAft>
              <a:buSzPct val="100000"/>
              <a:buChar char="•"/>
            </a:pPr>
            <a:r>
              <a:rPr lang="en-US" sz="1000" dirty="0" err="1"/>
              <a:t>Superintendencia</a:t>
            </a:r>
            <a:r>
              <a:rPr lang="en-US" sz="1000" dirty="0"/>
              <a:t> de Banca, </a:t>
            </a:r>
            <a:r>
              <a:rPr lang="en-US" sz="1000" dirty="0" err="1"/>
              <a:t>Seguros</a:t>
            </a:r>
            <a:r>
              <a:rPr lang="en-US" sz="1000" dirty="0"/>
              <a:t> y AFP (SBS)</a:t>
            </a:r>
            <a:r>
              <a:rPr lang="en-US" sz="1000" dirty="0">
                <a:solidFill>
                  <a:srgbClr val="202124"/>
                </a:solidFill>
                <a:latin typeface="Calibri" pitchFamily="34" charset="0"/>
                <a:ea typeface="Calibri" pitchFamily="34" charset="-122"/>
                <a:cs typeface="Calibri" pitchFamily="34" charset="-120"/>
              </a:rPr>
              <a:t>: depósitos por oficina e </a:t>
            </a:r>
            <a:r>
              <a:rPr lang="en-US" sz="1000" dirty="0" err="1">
                <a:solidFill>
                  <a:srgbClr val="202124"/>
                </a:solidFill>
                <a:latin typeface="Calibri" pitchFamily="34" charset="0"/>
                <a:ea typeface="Calibri" pitchFamily="34" charset="-122"/>
                <a:cs typeface="Calibri" pitchFamily="34" charset="-120"/>
              </a:rPr>
              <a:t>institución</a:t>
            </a:r>
            <a:r>
              <a:rPr lang="en-US" sz="1000" dirty="0">
                <a:solidFill>
                  <a:srgbClr val="202124"/>
                </a:solidFill>
                <a:latin typeface="Calibri" pitchFamily="34" charset="0"/>
                <a:ea typeface="Calibri" pitchFamily="34" charset="-122"/>
                <a:cs typeface="Calibri" pitchFamily="34" charset="-120"/>
              </a:rPr>
              <a:t>; cajeros y agentes corresponsales por institución y distrito.</a:t>
            </a:r>
            <a:endParaRPr lang="en-US" sz="1000" dirty="0"/>
          </a:p>
          <a:p>
            <a:pPr marL="342900" indent="-342900">
              <a:lnSpc>
                <a:spcPts val="1200"/>
              </a:lnSpc>
              <a:spcAft>
                <a:spcPts val="400"/>
              </a:spcAft>
              <a:buSzPct val="100000"/>
              <a:buChar char="•"/>
            </a:pPr>
            <a:r>
              <a:rPr lang="en-US" sz="1000" dirty="0">
                <a:solidFill>
                  <a:srgbClr val="202124"/>
                </a:solidFill>
                <a:latin typeface="Calibri" pitchFamily="34" charset="0"/>
                <a:ea typeface="Calibri" pitchFamily="34" charset="-122"/>
                <a:cs typeface="Calibri" pitchFamily="34" charset="-120"/>
              </a:rPr>
              <a:t>Exposición predeterminada por distrito y </a:t>
            </a:r>
            <a:r>
              <a:rPr lang="en-US" sz="1000" dirty="0" err="1">
                <a:solidFill>
                  <a:srgbClr val="202124"/>
                </a:solidFill>
                <a:latin typeface="Calibri" pitchFamily="34" charset="0"/>
                <a:ea typeface="Calibri" pitchFamily="34" charset="-122"/>
                <a:cs typeface="Calibri" pitchFamily="34" charset="-120"/>
              </a:rPr>
              <a:t>fase</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Cohortes</a:t>
            </a:r>
            <a:r>
              <a:rPr lang="en-US" sz="1000" dirty="0">
                <a:solidFill>
                  <a:srgbClr val="202124"/>
                </a:solidFill>
                <a:latin typeface="Calibri" pitchFamily="34" charset="0"/>
                <a:ea typeface="Calibri" pitchFamily="34" charset="-122"/>
                <a:cs typeface="Calibri" pitchFamily="34" charset="-120"/>
              </a:rPr>
              <a:t>: 2023Q2, 2023Q4 y 2024Q1.</a:t>
            </a:r>
            <a:endParaRPr lang="en-US" sz="1000" dirty="0"/>
          </a:p>
        </p:txBody>
      </p:sp>
      <p:sp>
        <p:nvSpPr>
          <p:cNvPr id="7" name="Text 4"/>
          <p:cNvSpPr/>
          <p:nvPr/>
        </p:nvSpPr>
        <p:spPr>
          <a:xfrm>
            <a:off x="4709160" y="3310128"/>
            <a:ext cx="3931920" cy="201168"/>
          </a:xfrm>
          <a:prstGeom prst="rect">
            <a:avLst/>
          </a:prstGeom>
          <a:noFill/>
          <a:ln/>
        </p:spPr>
        <p:txBody>
          <a:bodyPr wrap="square" lIns="0" tIns="0" rIns="0" bIns="0"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Dos diferencias con el caso argentino</a:t>
            </a:r>
            <a:endParaRPr lang="en-US" sz="1200" dirty="0"/>
          </a:p>
        </p:txBody>
      </p:sp>
      <p:sp>
        <p:nvSpPr>
          <p:cNvPr id="8" name="Text 5"/>
          <p:cNvSpPr/>
          <p:nvPr/>
        </p:nvSpPr>
        <p:spPr>
          <a:xfrm>
            <a:off x="4709160" y="3547872"/>
            <a:ext cx="3931920" cy="1417320"/>
          </a:xfrm>
          <a:prstGeom prst="rect">
            <a:avLst/>
          </a:prstGeom>
          <a:noFill/>
          <a:ln/>
        </p:spPr>
        <p:txBody>
          <a:bodyPr wrap="square" lIns="0" tIns="0" rIns="0" bIns="0" rtlCol="0" anchor="t"/>
          <a:lstStyle/>
          <a:p>
            <a:pPr marL="342900" indent="-342900">
              <a:lnSpc>
                <a:spcPts val="1200"/>
              </a:lnSpc>
              <a:spcAft>
                <a:spcPts val="400"/>
              </a:spcAft>
              <a:buSzPct val="100000"/>
              <a:buChar char="•"/>
            </a:pPr>
            <a:r>
              <a:rPr lang="en-US" sz="1000" b="1" dirty="0">
                <a:solidFill>
                  <a:srgbClr val="202124"/>
                </a:solidFill>
                <a:latin typeface="Calibri" pitchFamily="34" charset="0"/>
                <a:ea typeface="Calibri" pitchFamily="34" charset="-122"/>
                <a:cs typeface="Calibri" pitchFamily="34" charset="-120"/>
              </a:rPr>
              <a:t>En Perú lo cerrado era la transferencia entre billeteras: un usuario de Yape no podía enviarle a uno de Plin</a:t>
            </a:r>
            <a:r>
              <a:rPr lang="en-US" sz="1000" dirty="0">
                <a:solidFill>
                  <a:srgbClr val="202124"/>
                </a:solidFill>
                <a:latin typeface="Calibri" pitchFamily="34" charset="0"/>
                <a:ea typeface="Calibri" pitchFamily="34" charset="-122"/>
                <a:cs typeface="Calibri" pitchFamily="34" charset="-120"/>
              </a:rPr>
              <a:t>. En Argentina eso quedó equiparado por la A 6697 en junio de 2019, y lo que abre Transferencias 3.0 es la aceptación en el comercio.</a:t>
            </a:r>
            <a:endParaRPr lang="en-US" sz="1000" dirty="0"/>
          </a:p>
          <a:p>
            <a:pPr marL="342900" indent="-342900">
              <a:lnSpc>
                <a:spcPts val="1200"/>
              </a:lnSpc>
              <a:spcAft>
                <a:spcPts val="400"/>
              </a:spcAft>
              <a:buSzPct val="100000"/>
              <a:buChar char="•"/>
            </a:pPr>
            <a:r>
              <a:rPr lang="en-US" sz="1000" b="1" dirty="0">
                <a:solidFill>
                  <a:srgbClr val="202124"/>
                </a:solidFill>
                <a:latin typeface="Calibri" pitchFamily="34" charset="0"/>
                <a:ea typeface="Calibri" pitchFamily="34" charset="-122"/>
                <a:cs typeface="Calibri" pitchFamily="34" charset="-120"/>
              </a:rPr>
              <a:t>La norma peruana fija fechas distintas por conjunto de instituciones, lo que produce cohortes de tratamiento escalonadas. </a:t>
            </a:r>
            <a:r>
              <a:rPr lang="en-US" sz="1000" dirty="0">
                <a:solidFill>
                  <a:srgbClr val="202124"/>
                </a:solidFill>
                <a:latin typeface="Calibri" pitchFamily="34" charset="0"/>
                <a:ea typeface="Calibri" pitchFamily="34" charset="-122"/>
                <a:cs typeface="Calibri" pitchFamily="34" charset="-120"/>
              </a:rPr>
              <a:t>En Argentina cada tramo rige de manera simultánea para todo el sistema.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Idea 1. Fondeo bancario y efectos no buscados del régimen de encajes</a:t>
            </a:r>
            <a:endParaRPr lang="en-US" sz="2200" dirty="0"/>
          </a:p>
        </p:txBody>
      </p:sp>
      <p:sp>
        <p:nvSpPr>
          <p:cNvPr id="3" name="Text 1"/>
          <p:cNvSpPr/>
          <p:nvPr/>
        </p:nvSpPr>
        <p:spPr>
          <a:xfrm>
            <a:off x="502920" y="749808"/>
            <a:ext cx="8138160" cy="274320"/>
          </a:xfrm>
          <a:prstGeom prst="rect">
            <a:avLst/>
          </a:prstGeom>
          <a:noFill/>
          <a:ln/>
        </p:spPr>
        <p:txBody>
          <a:bodyPr wrap="square" lIns="0" tIns="0" rIns="0" bIns="0" rtlCol="0" anchor="t"/>
          <a:lstStyle/>
          <a:p>
            <a:pPr marL="0" indent="0">
              <a:lnSpc>
                <a:spcPts val="1500"/>
              </a:lnSpc>
              <a:buNone/>
            </a:pPr>
            <a:r>
              <a:rPr lang="en-US" sz="1200" dirty="0">
                <a:solidFill>
                  <a:srgbClr val="5A6270"/>
                </a:solidFill>
                <a:latin typeface="Calibri" pitchFamily="34" charset="0"/>
                <a:ea typeface="Calibri" pitchFamily="34" charset="-122"/>
                <a:cs typeface="Calibri" pitchFamily="34" charset="-120"/>
              </a:rPr>
              <a:t>Qué se pregunta, de dónde vendría la variación, con qué datos y qué falta.</a:t>
            </a:r>
            <a:endParaRPr lang="en-US" sz="1200" dirty="0"/>
          </a:p>
        </p:txBody>
      </p:sp>
      <p:sp>
        <p:nvSpPr>
          <p:cNvPr id="4" name="Text 2"/>
          <p:cNvSpPr/>
          <p:nvPr/>
        </p:nvSpPr>
        <p:spPr>
          <a:xfrm>
            <a:off x="502920" y="1097280"/>
            <a:ext cx="813816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La lógica</a:t>
            </a:r>
            <a:endParaRPr lang="en-US" sz="1250" dirty="0"/>
          </a:p>
        </p:txBody>
      </p:sp>
      <p:sp>
        <p:nvSpPr>
          <p:cNvPr id="5" name="Text 3"/>
          <p:cNvSpPr/>
          <p:nvPr/>
        </p:nvSpPr>
        <p:spPr>
          <a:xfrm>
            <a:off x="502920" y="1325880"/>
            <a:ext cx="8138160" cy="1188720"/>
          </a:xfrm>
          <a:prstGeom prst="rect">
            <a:avLst/>
          </a:prstGeom>
          <a:noFill/>
          <a:ln/>
        </p:spPr>
        <p:txBody>
          <a:bodyPr wrap="square" lIns="0" tIns="0" rIns="0" bIns="0" rtlCol="0" anchor="t"/>
          <a:lstStyle/>
          <a:p>
            <a:pPr marL="342900" indent="-342900">
              <a:lnSpc>
                <a:spcPts val="1250"/>
              </a:lnSpc>
              <a:spcAft>
                <a:spcPts val="300"/>
              </a:spcAft>
              <a:buSzPct val="100000"/>
              <a:buChar char="•"/>
            </a:pPr>
            <a:r>
              <a:rPr lang="en-US" sz="1000" b="1" dirty="0">
                <a:solidFill>
                  <a:srgbClr val="202124"/>
                </a:solidFill>
                <a:latin typeface="Calibri" pitchFamily="34" charset="0"/>
                <a:ea typeface="Calibri" pitchFamily="34" charset="-122"/>
                <a:cs typeface="Calibri" pitchFamily="34" charset="-120"/>
              </a:rPr>
              <a:t>El mismo peso de un usuario paga 100% de encaje si permanece en la cuenta de pago del PSP y entre 0% y 40% si se canaliza a un FCI money market</a:t>
            </a:r>
            <a:r>
              <a:rPr lang="en-US" sz="1000" dirty="0">
                <a:solidFill>
                  <a:srgbClr val="202124"/>
                </a:solidFill>
                <a:latin typeface="Calibri" pitchFamily="34" charset="0"/>
                <a:ea typeface="Calibri" pitchFamily="34" charset="-122"/>
                <a:cs typeface="Calibri" pitchFamily="34" charset="-120"/>
              </a:rPr>
              <a:t>. </a:t>
            </a:r>
            <a:r>
              <a:rPr lang="en-US" sz="1000" b="1" dirty="0">
                <a:solidFill>
                  <a:srgbClr val="202124"/>
                </a:solidFill>
                <a:latin typeface="Calibri" pitchFamily="34" charset="0"/>
                <a:ea typeface="Calibri" pitchFamily="34" charset="-122"/>
                <a:cs typeface="Calibri" pitchFamily="34" charset="-120"/>
              </a:rPr>
              <a:t>El banco no puede prestar el primero y sí el segundo, de modo que solo está dispuesto a pagar por el segundo.</a:t>
            </a:r>
            <a:endParaRPr lang="en-US" sz="1000" b="1" dirty="0"/>
          </a:p>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El saldo transaccional termina entonces en un fondo y vuelve al sistema bancario como fondeo mayorista: más caro, exigible en el día y colocado en un banco distinto del que perdió el depósito </a:t>
            </a:r>
            <a:r>
              <a:rPr lang="en-US" sz="1000" dirty="0" err="1">
                <a:solidFill>
                  <a:srgbClr val="202124"/>
                </a:solidFill>
                <a:latin typeface="Calibri" pitchFamily="34" charset="0"/>
                <a:ea typeface="Calibri" pitchFamily="34" charset="-122"/>
                <a:cs typeface="Calibri" pitchFamily="34" charset="-120"/>
              </a:rPr>
              <a:t>minorista</a:t>
            </a:r>
            <a:r>
              <a:rPr lang="en-US" sz="1000" dirty="0">
                <a:solidFill>
                  <a:srgbClr val="202124"/>
                </a:solidFill>
                <a:latin typeface="Calibri" pitchFamily="34" charset="0"/>
                <a:ea typeface="Calibri" pitchFamily="34" charset="-122"/>
                <a:cs typeface="Calibri" pitchFamily="34" charset="-120"/>
              </a:rPr>
              <a:t>.</a:t>
            </a:r>
            <a:endParaRPr lang="en-US" sz="1000" dirty="0"/>
          </a:p>
        </p:txBody>
      </p:sp>
      <p:sp>
        <p:nvSpPr>
          <p:cNvPr id="6" name="Text 4"/>
          <p:cNvSpPr/>
          <p:nvPr/>
        </p:nvSpPr>
        <p:spPr>
          <a:xfrm>
            <a:off x="502920" y="2095609"/>
            <a:ext cx="813816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De dónde vendría la variación</a:t>
            </a:r>
            <a:endParaRPr lang="en-US" sz="1250" dirty="0"/>
          </a:p>
        </p:txBody>
      </p:sp>
      <p:sp>
        <p:nvSpPr>
          <p:cNvPr id="7" name="Text 5"/>
          <p:cNvSpPr/>
          <p:nvPr/>
        </p:nvSpPr>
        <p:spPr>
          <a:xfrm>
            <a:off x="502920" y="2400300"/>
            <a:ext cx="8138160" cy="1188720"/>
          </a:xfrm>
          <a:prstGeom prst="rect">
            <a:avLst/>
          </a:prstGeom>
          <a:noFill/>
          <a:ln/>
        </p:spPr>
        <p:txBody>
          <a:bodyPr wrap="square" lIns="0" tIns="0" rIns="0" bIns="0" rtlCol="0" anchor="t"/>
          <a:lstStyle/>
          <a:p>
            <a:pPr marL="342900" indent="-342900">
              <a:lnSpc>
                <a:spcPts val="1250"/>
              </a:lnSpc>
              <a:spcAft>
                <a:spcPts val="300"/>
              </a:spcAft>
              <a:buSzPct val="100000"/>
              <a:buChar char="•"/>
            </a:pPr>
            <a:r>
              <a:rPr lang="en-US" sz="1000" dirty="0" err="1">
                <a:solidFill>
                  <a:srgbClr val="202124"/>
                </a:solidFill>
                <a:latin typeface="Calibri" pitchFamily="34" charset="0"/>
                <a:ea typeface="Calibri" pitchFamily="34" charset="-122"/>
                <a:cs typeface="Calibri" pitchFamily="34" charset="-120"/>
              </a:rPr>
              <a:t>Habría</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que</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mirar</a:t>
            </a:r>
            <a:r>
              <a:rPr lang="en-US" sz="1000" dirty="0">
                <a:solidFill>
                  <a:srgbClr val="202124"/>
                </a:solidFill>
                <a:latin typeface="Calibri" pitchFamily="34" charset="0"/>
                <a:ea typeface="Calibri" pitchFamily="34" charset="-122"/>
                <a:cs typeface="Calibri" pitchFamily="34" charset="-120"/>
              </a:rPr>
              <a:t> la </a:t>
            </a:r>
            <a:r>
              <a:rPr lang="en-US" sz="1000" dirty="0" err="1">
                <a:solidFill>
                  <a:srgbClr val="202124"/>
                </a:solidFill>
                <a:latin typeface="Calibri" pitchFamily="34" charset="0"/>
                <a:ea typeface="Calibri" pitchFamily="34" charset="-122"/>
                <a:cs typeface="Calibri" pitchFamily="34" charset="-120"/>
              </a:rPr>
              <a:t>reacción</a:t>
            </a:r>
            <a:r>
              <a:rPr lang="en-US" sz="1000" dirty="0">
                <a:solidFill>
                  <a:srgbClr val="202124"/>
                </a:solidFill>
                <a:latin typeface="Calibri" pitchFamily="34" charset="0"/>
                <a:ea typeface="Calibri" pitchFamily="34" charset="-122"/>
                <a:cs typeface="Calibri" pitchFamily="34" charset="-120"/>
              </a:rPr>
              <a:t> de </a:t>
            </a:r>
            <a:r>
              <a:rPr lang="en-US" sz="1000" dirty="0" err="1">
                <a:solidFill>
                  <a:srgbClr val="202124"/>
                </a:solidFill>
                <a:latin typeface="Calibri" pitchFamily="34" charset="0"/>
                <a:ea typeface="Calibri" pitchFamily="34" charset="-122"/>
                <a:cs typeface="Calibri" pitchFamily="34" charset="-120"/>
              </a:rPr>
              <a:t>fondos</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más</a:t>
            </a:r>
            <a:r>
              <a:rPr lang="en-US" sz="1000" dirty="0">
                <a:solidFill>
                  <a:srgbClr val="202124"/>
                </a:solidFill>
                <a:latin typeface="Calibri" pitchFamily="34" charset="0"/>
                <a:ea typeface="Calibri" pitchFamily="34" charset="-122"/>
                <a:cs typeface="Calibri" pitchFamily="34" charset="-120"/>
              </a:rPr>
              <a:t> y </a:t>
            </a:r>
            <a:r>
              <a:rPr lang="en-US" sz="1000" dirty="0" err="1">
                <a:solidFill>
                  <a:srgbClr val="202124"/>
                </a:solidFill>
                <a:latin typeface="Calibri" pitchFamily="34" charset="0"/>
                <a:ea typeface="Calibri" pitchFamily="34" charset="-122"/>
                <a:cs typeface="Calibri" pitchFamily="34" charset="-120"/>
              </a:rPr>
              <a:t>menos</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expuestos</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en</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términos</a:t>
            </a:r>
            <a:r>
              <a:rPr lang="en-US" sz="1000" dirty="0">
                <a:solidFill>
                  <a:srgbClr val="202124"/>
                </a:solidFill>
                <a:latin typeface="Calibri" pitchFamily="34" charset="0"/>
                <a:ea typeface="Calibri" pitchFamily="34" charset="-122"/>
                <a:cs typeface="Calibri" pitchFamily="34" charset="-120"/>
              </a:rPr>
              <a:t> de </a:t>
            </a:r>
            <a:r>
              <a:rPr lang="en-US" sz="1000" dirty="0" err="1">
                <a:solidFill>
                  <a:srgbClr val="202124"/>
                </a:solidFill>
                <a:latin typeface="Calibri" pitchFamily="34" charset="0"/>
                <a:ea typeface="Calibri" pitchFamily="34" charset="-122"/>
                <a:cs typeface="Calibri" pitchFamily="34" charset="-120"/>
              </a:rPr>
              <a:t>su</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fondeo</a:t>
            </a:r>
            <a:r>
              <a:rPr lang="en-US" sz="1000" dirty="0">
                <a:solidFill>
                  <a:srgbClr val="202124"/>
                </a:solidFill>
                <a:latin typeface="Calibri" pitchFamily="34" charset="0"/>
                <a:ea typeface="Calibri" pitchFamily="34" charset="-122"/>
                <a:cs typeface="Calibri" pitchFamily="34" charset="-120"/>
              </a:rPr>
              <a:t> y </a:t>
            </a:r>
            <a:r>
              <a:rPr lang="en-US" sz="1000" dirty="0" err="1">
                <a:solidFill>
                  <a:srgbClr val="202124"/>
                </a:solidFill>
                <a:latin typeface="Calibri" pitchFamily="34" charset="0"/>
                <a:ea typeface="Calibri" pitchFamily="34" charset="-122"/>
                <a:cs typeface="Calibri" pitchFamily="34" charset="-120"/>
              </a:rPr>
              <a:t>cómo</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pasan</a:t>
            </a:r>
            <a:r>
              <a:rPr lang="en-US" sz="1000" dirty="0">
                <a:solidFill>
                  <a:srgbClr val="202124"/>
                </a:solidFill>
                <a:latin typeface="Calibri" pitchFamily="34" charset="0"/>
                <a:ea typeface="Calibri" pitchFamily="34" charset="-122"/>
                <a:cs typeface="Calibri" pitchFamily="34" charset="-120"/>
              </a:rPr>
              <a:t> a </a:t>
            </a:r>
            <a:r>
              <a:rPr lang="en-US" sz="1000" dirty="0" err="1">
                <a:solidFill>
                  <a:srgbClr val="202124"/>
                </a:solidFill>
                <a:latin typeface="Calibri" pitchFamily="34" charset="0"/>
                <a:ea typeface="Calibri" pitchFamily="34" charset="-122"/>
                <a:cs typeface="Calibri" pitchFamily="34" charset="-120"/>
              </a:rPr>
              <a:t>invertir</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en</a:t>
            </a:r>
            <a:r>
              <a:rPr lang="en-US" sz="1000" dirty="0">
                <a:solidFill>
                  <a:srgbClr val="202124"/>
                </a:solidFill>
                <a:latin typeface="Calibri" pitchFamily="34" charset="0"/>
                <a:ea typeface="Calibri" pitchFamily="34" charset="-122"/>
                <a:cs typeface="Calibri" pitchFamily="34" charset="-120"/>
              </a:rPr>
              <a:t> la </a:t>
            </a:r>
            <a:r>
              <a:rPr lang="en-US" sz="1000" dirty="0" err="1">
                <a:solidFill>
                  <a:srgbClr val="202124"/>
                </a:solidFill>
                <a:latin typeface="Calibri" pitchFamily="34" charset="0"/>
                <a:ea typeface="Calibri" pitchFamily="34" charset="-122"/>
                <a:cs typeface="Calibri" pitchFamily="34" charset="-120"/>
              </a:rPr>
              <a:t>relación</a:t>
            </a:r>
            <a:r>
              <a:rPr lang="en-US" sz="1000" dirty="0">
                <a:solidFill>
                  <a:srgbClr val="202124"/>
                </a:solidFill>
                <a:latin typeface="Calibri" pitchFamily="34" charset="0"/>
                <a:ea typeface="Calibri" pitchFamily="34" charset="-122"/>
                <a:cs typeface="Calibri" pitchFamily="34" charset="-120"/>
              </a:rPr>
              <a:t> a sus </a:t>
            </a:r>
            <a:r>
              <a:rPr lang="en-US" sz="1000" dirty="0" err="1">
                <a:solidFill>
                  <a:srgbClr val="202124"/>
                </a:solidFill>
                <a:latin typeface="Calibri" pitchFamily="34" charset="0"/>
                <a:ea typeface="Calibri" pitchFamily="34" charset="-122"/>
                <a:cs typeface="Calibri" pitchFamily="34" charset="-120"/>
              </a:rPr>
              <a:t>bancos</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depositarios</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inversiones</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en</a:t>
            </a:r>
            <a:r>
              <a:rPr lang="en-US" sz="1000" dirty="0">
                <a:solidFill>
                  <a:srgbClr val="202124"/>
                </a:solidFill>
                <a:latin typeface="Calibri" pitchFamily="34" charset="0"/>
                <a:ea typeface="Calibri" pitchFamily="34" charset="-122"/>
                <a:cs typeface="Calibri" pitchFamily="34" charset="-120"/>
              </a:rPr>
              <a:t> </a:t>
            </a:r>
            <a:r>
              <a:rPr lang="en-US" sz="1000" dirty="0" err="1">
                <a:solidFill>
                  <a:srgbClr val="202124"/>
                </a:solidFill>
                <a:latin typeface="Calibri" pitchFamily="34" charset="0"/>
                <a:ea typeface="Calibri" pitchFamily="34" charset="-122"/>
                <a:cs typeface="Calibri" pitchFamily="34" charset="-120"/>
              </a:rPr>
              <a:t>letras</a:t>
            </a:r>
            <a:r>
              <a:rPr lang="en-US" sz="1000" dirty="0">
                <a:solidFill>
                  <a:srgbClr val="202124"/>
                </a:solidFill>
                <a:latin typeface="Calibri" pitchFamily="34" charset="0"/>
                <a:ea typeface="Calibri" pitchFamily="34" charset="-122"/>
                <a:cs typeface="Calibri" pitchFamily="34" charset="-120"/>
              </a:rPr>
              <a:t>, etc.).</a:t>
            </a:r>
          </a:p>
          <a:p>
            <a:pPr marL="342900" indent="-342900">
              <a:lnSpc>
                <a:spcPts val="1250"/>
              </a:lnSpc>
              <a:spcAft>
                <a:spcPts val="300"/>
              </a:spcAft>
              <a:buSzPct val="100000"/>
              <a:buChar char="•"/>
            </a:pPr>
            <a:r>
              <a:rPr lang="en-US" sz="1000" dirty="0">
                <a:solidFill>
                  <a:srgbClr val="202124"/>
                </a:solidFill>
                <a:latin typeface="Calibri" pitchFamily="34" charset="0"/>
                <a:cs typeface="Calibri" pitchFamily="34" charset="-120"/>
              </a:rPr>
              <a:t>Mirar a </a:t>
            </a:r>
            <a:r>
              <a:rPr lang="en-US" sz="1000" dirty="0" err="1">
                <a:solidFill>
                  <a:srgbClr val="202124"/>
                </a:solidFill>
                <a:latin typeface="Calibri" pitchFamily="34" charset="0"/>
                <a:cs typeface="Calibri" pitchFamily="34" charset="-120"/>
              </a:rPr>
              <a:t>nivel</a:t>
            </a:r>
            <a:r>
              <a:rPr lang="en-US" sz="1000" dirty="0">
                <a:solidFill>
                  <a:srgbClr val="202124"/>
                </a:solidFill>
                <a:latin typeface="Calibri" pitchFamily="34" charset="0"/>
                <a:cs typeface="Calibri" pitchFamily="34" charset="-120"/>
              </a:rPr>
              <a:t> banco, </a:t>
            </a:r>
            <a:r>
              <a:rPr lang="en-US" sz="1000" dirty="0" err="1">
                <a:solidFill>
                  <a:srgbClr val="202124"/>
                </a:solidFill>
                <a:latin typeface="Calibri" pitchFamily="34" charset="0"/>
                <a:cs typeface="Calibri" pitchFamily="34" charset="-120"/>
              </a:rPr>
              <a:t>cómo</a:t>
            </a:r>
            <a:r>
              <a:rPr lang="en-US" sz="1000" dirty="0">
                <a:solidFill>
                  <a:srgbClr val="202124"/>
                </a:solidFill>
                <a:latin typeface="Calibri" pitchFamily="34" charset="0"/>
                <a:cs typeface="Calibri" pitchFamily="34" charset="-120"/>
              </a:rPr>
              <a:t> </a:t>
            </a:r>
            <a:r>
              <a:rPr lang="en-US" sz="1000" dirty="0" err="1">
                <a:solidFill>
                  <a:srgbClr val="202124"/>
                </a:solidFill>
                <a:latin typeface="Calibri" pitchFamily="34" charset="0"/>
                <a:cs typeface="Calibri" pitchFamily="34" charset="-120"/>
              </a:rPr>
              <a:t>varía</a:t>
            </a:r>
            <a:r>
              <a:rPr lang="en-US" sz="1000" dirty="0">
                <a:solidFill>
                  <a:srgbClr val="202124"/>
                </a:solidFill>
                <a:latin typeface="Calibri" pitchFamily="34" charset="0"/>
                <a:cs typeface="Calibri" pitchFamily="34" charset="-120"/>
              </a:rPr>
              <a:t> </a:t>
            </a:r>
            <a:r>
              <a:rPr lang="en-US" sz="1000" dirty="0" err="1">
                <a:solidFill>
                  <a:srgbClr val="202124"/>
                </a:solidFill>
                <a:latin typeface="Calibri" pitchFamily="34" charset="0"/>
                <a:cs typeface="Calibri" pitchFamily="34" charset="-120"/>
              </a:rPr>
              <a:t>su</a:t>
            </a:r>
            <a:r>
              <a:rPr lang="en-US" sz="1000" dirty="0">
                <a:solidFill>
                  <a:srgbClr val="202124"/>
                </a:solidFill>
                <a:latin typeface="Calibri" pitchFamily="34" charset="0"/>
                <a:cs typeface="Calibri" pitchFamily="34" charset="-120"/>
              </a:rPr>
              <a:t> </a:t>
            </a:r>
            <a:r>
              <a:rPr lang="en-US" sz="1000" dirty="0" err="1">
                <a:solidFill>
                  <a:srgbClr val="202124"/>
                </a:solidFill>
                <a:latin typeface="Calibri" pitchFamily="34" charset="0"/>
                <a:cs typeface="Calibri" pitchFamily="34" charset="-120"/>
              </a:rPr>
              <a:t>fondeo</a:t>
            </a:r>
            <a:r>
              <a:rPr lang="en-US" sz="1000" dirty="0">
                <a:solidFill>
                  <a:srgbClr val="202124"/>
                </a:solidFill>
                <a:latin typeface="Calibri" pitchFamily="34" charset="0"/>
                <a:cs typeface="Calibri" pitchFamily="34" charset="-120"/>
              </a:rPr>
              <a:t>.</a:t>
            </a:r>
            <a:endParaRPr lang="en-US" sz="1000" dirty="0"/>
          </a:p>
        </p:txBody>
      </p:sp>
      <p:sp>
        <p:nvSpPr>
          <p:cNvPr id="8" name="Text 6"/>
          <p:cNvSpPr/>
          <p:nvPr/>
        </p:nvSpPr>
        <p:spPr>
          <a:xfrm>
            <a:off x="502920" y="3183745"/>
            <a:ext cx="393192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Datos que se usarían</a:t>
            </a:r>
            <a:endParaRPr lang="en-US" sz="1250" dirty="0"/>
          </a:p>
        </p:txBody>
      </p:sp>
      <p:sp>
        <p:nvSpPr>
          <p:cNvPr id="9" name="Text 7"/>
          <p:cNvSpPr/>
          <p:nvPr/>
        </p:nvSpPr>
        <p:spPr>
          <a:xfrm>
            <a:off x="502920" y="3463290"/>
            <a:ext cx="3931920" cy="1554480"/>
          </a:xfrm>
          <a:prstGeom prst="rect">
            <a:avLst/>
          </a:prstGeom>
          <a:noFill/>
          <a:ln/>
        </p:spPr>
        <p:txBody>
          <a:bodyPr wrap="square" lIns="0" tIns="0" rIns="0" bIns="0" rtlCol="0" anchor="t"/>
          <a:lstStyle/>
          <a:p>
            <a:pPr marL="342900" indent="-342900">
              <a:lnSpc>
                <a:spcPts val="1200"/>
              </a:lnSpc>
              <a:spcAft>
                <a:spcPts val="300"/>
              </a:spcAft>
              <a:buSzPct val="100000"/>
              <a:buChar char="•"/>
            </a:pPr>
            <a:r>
              <a:rPr lang="en-US" sz="950" dirty="0">
                <a:solidFill>
                  <a:srgbClr val="202124"/>
                </a:solidFill>
                <a:latin typeface="Calibri" pitchFamily="34" charset="0"/>
                <a:ea typeface="Calibri" pitchFamily="34" charset="-122"/>
                <a:cs typeface="Calibri" pitchFamily="34" charset="-120"/>
              </a:rPr>
              <a:t>balances_bancos (banco × mes, 2018m1–2026m4): prest_spnf, dep_spnf, dep_cajaahorro, dep_pfijo y las partidas de fondeo mayorista como resultados; activo, pn y clasificación institucional como controles.</a:t>
            </a:r>
            <a:endParaRPr lang="en-US" sz="950" dirty="0"/>
          </a:p>
          <a:p>
            <a:pPr marL="342900" indent="-342900">
              <a:lnSpc>
                <a:spcPts val="1200"/>
              </a:lnSpc>
              <a:spcAft>
                <a:spcPts val="300"/>
              </a:spcAft>
              <a:buSzPct val="100000"/>
              <a:buChar char="•"/>
            </a:pPr>
            <a:r>
              <a:rPr lang="en-US" sz="950" dirty="0">
                <a:solidFill>
                  <a:srgbClr val="202124"/>
                </a:solidFill>
                <a:latin typeface="Calibri" pitchFamily="34" charset="0"/>
                <a:ea typeface="Calibri" pitchFamily="34" charset="-122"/>
                <a:cs typeface="Calibri" pitchFamily="34" charset="-120"/>
              </a:rPr>
              <a:t>caracteristicas_bancos: indicadores prudenciales y situación de la cartera.</a:t>
            </a:r>
            <a:endParaRPr lang="en-US" sz="950" dirty="0"/>
          </a:p>
          <a:p>
            <a:pPr marL="342900" indent="-342900">
              <a:lnSpc>
                <a:spcPts val="1200"/>
              </a:lnSpc>
              <a:spcAft>
                <a:spcPts val="300"/>
              </a:spcAft>
              <a:buSzPct val="100000"/>
              <a:buChar char="•"/>
            </a:pPr>
            <a:r>
              <a:rPr lang="en-US" sz="950" dirty="0">
                <a:solidFill>
                  <a:srgbClr val="202124"/>
                </a:solidFill>
                <a:latin typeface="Calibri" pitchFamily="34" charset="0"/>
                <a:ea typeface="Calibri" pitchFamily="34" charset="-122"/>
                <a:cs typeface="Calibri" pitchFamily="34" charset="-120"/>
              </a:rPr>
              <a:t>CAFCI, cartera semanal: participación de cada banco en el haber de cada FCI money market.</a:t>
            </a:r>
            <a:endParaRPr lang="en-US" sz="950" dirty="0"/>
          </a:p>
        </p:txBody>
      </p:sp>
      <p:sp>
        <p:nvSpPr>
          <p:cNvPr id="10" name="Text 8"/>
          <p:cNvSpPr/>
          <p:nvPr/>
        </p:nvSpPr>
        <p:spPr>
          <a:xfrm>
            <a:off x="4709160" y="3183745"/>
            <a:ext cx="393192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Qué falta</a:t>
            </a:r>
            <a:endParaRPr lang="en-US" sz="1250" dirty="0"/>
          </a:p>
        </p:txBody>
      </p:sp>
      <p:sp>
        <p:nvSpPr>
          <p:cNvPr id="11" name="Text 9"/>
          <p:cNvSpPr/>
          <p:nvPr/>
        </p:nvSpPr>
        <p:spPr>
          <a:xfrm>
            <a:off x="4709160" y="3463290"/>
            <a:ext cx="3931920" cy="1554480"/>
          </a:xfrm>
          <a:prstGeom prst="rect">
            <a:avLst/>
          </a:prstGeom>
          <a:noFill/>
          <a:ln/>
        </p:spPr>
        <p:txBody>
          <a:bodyPr wrap="square" lIns="0" tIns="0" rIns="0" bIns="0" rtlCol="0" anchor="t"/>
          <a:lstStyle/>
          <a:p>
            <a:pPr marL="342900" indent="-342900">
              <a:lnSpc>
                <a:spcPts val="1200"/>
              </a:lnSpc>
              <a:spcAft>
                <a:spcPts val="300"/>
              </a:spcAft>
              <a:buSzPct val="100000"/>
              <a:buChar char="•"/>
            </a:pPr>
            <a:r>
              <a:rPr lang="en-US" sz="950" dirty="0">
                <a:solidFill>
                  <a:srgbClr val="202124"/>
                </a:solidFill>
                <a:latin typeface="Calibri" pitchFamily="34" charset="0"/>
                <a:ea typeface="Calibri" pitchFamily="34" charset="-122"/>
                <a:cs typeface="Calibri" pitchFamily="34" charset="-120"/>
              </a:rPr>
              <a:t>Descargar la cartera semanal de la API de CAFCI. </a:t>
            </a:r>
          </a:p>
          <a:p>
            <a:pPr marL="342900" indent="-342900">
              <a:lnSpc>
                <a:spcPts val="1200"/>
              </a:lnSpc>
              <a:spcAft>
                <a:spcPts val="300"/>
              </a:spcAft>
              <a:buSzPct val="100000"/>
              <a:buChar char="•"/>
            </a:pPr>
            <a:r>
              <a:rPr lang="en-US" sz="950" dirty="0">
                <a:solidFill>
                  <a:srgbClr val="202124"/>
                </a:solidFill>
                <a:latin typeface="Calibri" pitchFamily="34" charset="0"/>
                <a:ea typeface="Calibri" pitchFamily="34" charset="-122"/>
                <a:cs typeface="Calibri" pitchFamily="34" charset="-120"/>
              </a:rPr>
              <a:t>El mapeo PSP → clase de </a:t>
            </a:r>
            <a:r>
              <a:rPr lang="en-US" sz="950" dirty="0" err="1">
                <a:solidFill>
                  <a:srgbClr val="202124"/>
                </a:solidFill>
                <a:latin typeface="Calibri" pitchFamily="34" charset="0"/>
                <a:ea typeface="Calibri" pitchFamily="34" charset="-122"/>
                <a:cs typeface="Calibri" pitchFamily="34" charset="-120"/>
              </a:rPr>
              <a:t>cuotaparte</a:t>
            </a:r>
            <a:r>
              <a:rPr lang="en-US" sz="950" dirty="0">
                <a:solidFill>
                  <a:srgbClr val="202124"/>
                </a:solidFill>
                <a:latin typeface="Calibri" pitchFamily="34" charset="0"/>
                <a:ea typeface="Calibri" pitchFamily="34" charset="-122"/>
                <a:cs typeface="Calibri" pitchFamily="34" charset="-120"/>
              </a:rPr>
              <a:t> o FCI</a:t>
            </a:r>
          </a:p>
          <a:p>
            <a:pPr marL="342900" indent="-342900">
              <a:lnSpc>
                <a:spcPts val="1200"/>
              </a:lnSpc>
              <a:spcAft>
                <a:spcPts val="300"/>
              </a:spcAft>
              <a:buSzPct val="100000"/>
              <a:buChar char="•"/>
            </a:pPr>
            <a:r>
              <a:rPr lang="en-US" sz="950" b="1" dirty="0">
                <a:solidFill>
                  <a:srgbClr val="202124"/>
                </a:solidFill>
                <a:latin typeface="Calibri" pitchFamily="34" charset="0"/>
                <a:ea typeface="Calibri" pitchFamily="34" charset="-122"/>
                <a:cs typeface="Calibri" pitchFamily="34" charset="-120"/>
              </a:rPr>
              <a:t>El plan de cuentas no tiene partida por depositante, de modo que el proxy disponible mezcla a toda persona </a:t>
            </a:r>
            <a:r>
              <a:rPr lang="en-US" sz="950" b="1" dirty="0" err="1">
                <a:solidFill>
                  <a:srgbClr val="202124"/>
                </a:solidFill>
                <a:latin typeface="Calibri" pitchFamily="34" charset="0"/>
                <a:ea typeface="Calibri" pitchFamily="34" charset="-122"/>
                <a:cs typeface="Calibri" pitchFamily="34" charset="-120"/>
              </a:rPr>
              <a:t>jurídica</a:t>
            </a:r>
            <a:r>
              <a:rPr lang="en-US" sz="950" b="1" dirty="0">
                <a:solidFill>
                  <a:srgbClr val="202124"/>
                </a:solidFill>
                <a:latin typeface="Calibri" pitchFamily="34" charset="0"/>
                <a:ea typeface="Calibri" pitchFamily="34" charset="-122"/>
                <a:cs typeface="Calibri" pitchFamily="34" charset="-120"/>
              </a:rPr>
              <a:t>.</a:t>
            </a:r>
          </a:p>
          <a:p>
            <a:pPr>
              <a:lnSpc>
                <a:spcPts val="1200"/>
              </a:lnSpc>
              <a:spcAft>
                <a:spcPts val="300"/>
              </a:spcAft>
              <a:buSzPct val="100000"/>
            </a:pPr>
            <a:endParaRPr lang="en-US" sz="95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457200"/>
          </a:xfrm>
          <a:prstGeom prst="rect">
            <a:avLst/>
          </a:prstGeom>
          <a:noFill/>
          <a:ln/>
        </p:spPr>
        <p:txBody>
          <a:bodyPr wrap="square" lIns="0" tIns="0" rIns="0" bIns="0"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Idea 2. Transferencias 3.0 y la competencia por el depósito</a:t>
            </a:r>
            <a:endParaRPr lang="en-US" sz="2200" dirty="0"/>
          </a:p>
        </p:txBody>
      </p:sp>
      <p:sp>
        <p:nvSpPr>
          <p:cNvPr id="4" name="Text 2"/>
          <p:cNvSpPr/>
          <p:nvPr/>
        </p:nvSpPr>
        <p:spPr>
          <a:xfrm>
            <a:off x="502920" y="896112"/>
            <a:ext cx="813816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El cambio: cómo se fondea una billetera</a:t>
            </a:r>
            <a:endParaRPr lang="en-US" sz="1250" dirty="0"/>
          </a:p>
        </p:txBody>
      </p:sp>
      <p:sp>
        <p:nvSpPr>
          <p:cNvPr id="5" name="Text 3"/>
          <p:cNvSpPr/>
          <p:nvPr/>
        </p:nvSpPr>
        <p:spPr>
          <a:xfrm>
            <a:off x="502920" y="1143000"/>
            <a:ext cx="8138160" cy="1188720"/>
          </a:xfrm>
          <a:prstGeom prst="rect">
            <a:avLst/>
          </a:prstGeom>
          <a:noFill/>
          <a:ln/>
        </p:spPr>
        <p:txBody>
          <a:bodyPr wrap="square" lIns="0" tIns="0" rIns="0" bIns="0" rtlCol="0" anchor="t"/>
          <a:lstStyle/>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Antes, cargar saldo exigía que el usuario saliera de la billetera: una transferencia iniciada en la app del banco, o un DEBIN que también se autorizaba allí. El banco conservaba el control del momento y de la fricción.</a:t>
            </a:r>
            <a:endParaRPr lang="en-US" sz="1000" dirty="0"/>
          </a:p>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La Com. “A” 7514, vigente el 30 de septiembre de 2022, permite que la billetera debite una cuenta provista por otra entidad con el consentimiento del titular. La iniciación pasa a ocurrir dentro de la </a:t>
            </a:r>
            <a:r>
              <a:rPr lang="en-US" sz="1000" dirty="0" err="1">
                <a:solidFill>
                  <a:srgbClr val="202124"/>
                </a:solidFill>
                <a:latin typeface="Calibri" pitchFamily="34" charset="0"/>
                <a:ea typeface="Calibri" pitchFamily="34" charset="-122"/>
                <a:cs typeface="Calibri" pitchFamily="34" charset="-120"/>
              </a:rPr>
              <a:t>billetera</a:t>
            </a:r>
            <a:r>
              <a:rPr lang="en-US" sz="1000" dirty="0">
                <a:solidFill>
                  <a:srgbClr val="202124"/>
                </a:solidFill>
                <a:latin typeface="Calibri" pitchFamily="34" charset="0"/>
                <a:ea typeface="Calibri" pitchFamily="34" charset="-122"/>
                <a:cs typeface="Calibri" pitchFamily="34" charset="-120"/>
              </a:rPr>
              <a:t>.</a:t>
            </a:r>
            <a:endParaRPr lang="en-US" sz="1000" dirty="0"/>
          </a:p>
        </p:txBody>
      </p:sp>
      <p:sp>
        <p:nvSpPr>
          <p:cNvPr id="6" name="Text 4"/>
          <p:cNvSpPr/>
          <p:nvPr/>
        </p:nvSpPr>
        <p:spPr>
          <a:xfrm>
            <a:off x="502920" y="2125980"/>
            <a:ext cx="813816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Por qué es competencia directa por el depósito</a:t>
            </a:r>
            <a:endParaRPr lang="en-US" sz="1250" dirty="0"/>
          </a:p>
        </p:txBody>
      </p:sp>
      <p:sp>
        <p:nvSpPr>
          <p:cNvPr id="7" name="Text 5"/>
          <p:cNvSpPr/>
          <p:nvPr/>
        </p:nvSpPr>
        <p:spPr>
          <a:xfrm>
            <a:off x="502920" y="2377440"/>
            <a:ext cx="8138160" cy="1188720"/>
          </a:xfrm>
          <a:prstGeom prst="rect">
            <a:avLst/>
          </a:prstGeom>
          <a:noFill/>
          <a:ln/>
        </p:spPr>
        <p:txBody>
          <a:bodyPr wrap="square" lIns="0" tIns="0" rIns="0" bIns="0" rtlCol="0" anchor="t"/>
          <a:lstStyle/>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El depósito minorista es estable en parte por fricción: mover la plata exigía un acto deliberado en la app del propio banco, y esa fricción es lo que permite remunerarlo por debajo de la tasa de mercado.</a:t>
            </a:r>
            <a:endParaRPr lang="en-US" sz="1000" dirty="0"/>
          </a:p>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El pull elimina la fricción y traslada la iniciativa a la interfaz del competidor, que puede barrer el saldo el día de cobro y de forma automática. Sube la sensibilidad del depósito a la tasa. Con la A 8030 el banco pierde además el arancel que cobraba por dejar salir los fondos.</a:t>
            </a:r>
            <a:endParaRPr lang="en-US" sz="1000" dirty="0"/>
          </a:p>
        </p:txBody>
      </p:sp>
      <p:sp>
        <p:nvSpPr>
          <p:cNvPr id="8" name="Text 6"/>
          <p:cNvSpPr/>
          <p:nvPr/>
        </p:nvSpPr>
        <p:spPr>
          <a:xfrm>
            <a:off x="502920" y="3310128"/>
            <a:ext cx="8138160" cy="201168"/>
          </a:xfrm>
          <a:prstGeom prst="rect">
            <a:avLst/>
          </a:prstGeom>
          <a:noFill/>
          <a:ln/>
        </p:spPr>
        <p:txBody>
          <a:bodyPr wrap="square" lIns="0" tIns="0" rIns="0" bIns="0" rtlCol="0" anchor="ctr"/>
          <a:lstStyle/>
          <a:p>
            <a:pPr marL="0" indent="0">
              <a:buNone/>
            </a:pPr>
            <a:r>
              <a:rPr lang="en-US" sz="1250" b="1" dirty="0">
                <a:solidFill>
                  <a:srgbClr val="1F3864"/>
                </a:solidFill>
                <a:latin typeface="Calibri" pitchFamily="34" charset="0"/>
                <a:ea typeface="Calibri" pitchFamily="34" charset="-122"/>
                <a:cs typeface="Calibri" pitchFamily="34" charset="-120"/>
              </a:rPr>
              <a:t>Datos que se usarían</a:t>
            </a:r>
            <a:endParaRPr lang="en-US" sz="1250" dirty="0"/>
          </a:p>
        </p:txBody>
      </p:sp>
      <p:sp>
        <p:nvSpPr>
          <p:cNvPr id="9" name="Text 7"/>
          <p:cNvSpPr/>
          <p:nvPr/>
        </p:nvSpPr>
        <p:spPr>
          <a:xfrm>
            <a:off x="502920" y="3538728"/>
            <a:ext cx="8138160" cy="1600200"/>
          </a:xfrm>
          <a:prstGeom prst="rect">
            <a:avLst/>
          </a:prstGeom>
          <a:noFill/>
          <a:ln/>
        </p:spPr>
        <p:txBody>
          <a:bodyPr wrap="square" lIns="0" tIns="0" rIns="0" bIns="0" rtlCol="0" anchor="t"/>
          <a:lstStyle/>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Resultados. balances_bancos (banco × mes, 2018m1–2026m4): dep_cajaahorro, dep_ctasueldo, dep_ctacte, dep_spnf y prest_spnf.</a:t>
            </a:r>
            <a:endParaRPr lang="en-US" sz="1000" dirty="0"/>
          </a:p>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Exposición por banco. De la misma base, el peso de caja de ahorro y cuenta sueldo en el pasivo, promediado sobre 2021–2022m8, antes de la primera fecha.</a:t>
            </a:r>
            <a:endParaRPr lang="en-US" sz="1000" dirty="0"/>
          </a:p>
          <a:p>
            <a:pPr marL="342900" indent="-342900">
              <a:lnSpc>
                <a:spcPts val="1250"/>
              </a:lnSpc>
              <a:spcAft>
                <a:spcPts val="300"/>
              </a:spcAft>
              <a:buSzPct val="100000"/>
              <a:buChar char="•"/>
            </a:pPr>
            <a:r>
              <a:rPr lang="en-US" sz="1000" dirty="0">
                <a:solidFill>
                  <a:srgbClr val="202124"/>
                </a:solidFill>
                <a:latin typeface="Calibri" pitchFamily="34" charset="0"/>
                <a:ea typeface="Calibri" pitchFamily="34" charset="-122"/>
                <a:cs typeface="Calibri" pitchFamily="34" charset="-120"/>
              </a:rPr>
              <a:t>Exposición territorial. prestamos_depositos_prov: participación de cada banco en sucursales y depósitos de cada provincia, cruzada con inclusion_prov (n_pers_solo_cta_pago y n_pers_ambas_ctas, trimestral desde 2019q1).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1480" y="256032"/>
            <a:ext cx="8321040" cy="457200"/>
          </a:xfrm>
          <a:prstGeom prst="rect">
            <a:avLst/>
          </a:prstGeom>
          <a:noFill/>
          <a:ln/>
        </p:spPr>
        <p:txBody>
          <a:bodyPr wrap="square" lIns="0" tIns="0" rIns="0" bIns="0" rtlCol="0" anchor="ctr"/>
          <a:lstStyle/>
          <a:p>
            <a:pPr marL="0" indent="0">
              <a:buNone/>
            </a:pPr>
            <a:r>
              <a:rPr lang="en-US" sz="2100" b="1" dirty="0">
                <a:solidFill>
                  <a:srgbClr val="1F3864"/>
                </a:solidFill>
                <a:latin typeface="Calibri" pitchFamily="34" charset="0"/>
                <a:ea typeface="Calibri" pitchFamily="34" charset="-122"/>
                <a:cs typeface="Calibri" pitchFamily="34" charset="-120"/>
              </a:rPr>
              <a:t>Idea 2, mecanismos: por dónde competiría el pull con el depósito</a:t>
            </a:r>
            <a:endParaRPr lang="en-US" sz="2100" dirty="0"/>
          </a:p>
        </p:txBody>
      </p:sp>
      <p:sp>
        <p:nvSpPr>
          <p:cNvPr id="3" name="Text 1"/>
          <p:cNvSpPr/>
          <p:nvPr/>
        </p:nvSpPr>
        <p:spPr>
          <a:xfrm>
            <a:off x="411480" y="676656"/>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Tres márgenes distintos, cada uno con su outcome natural. Hipótesis, no resultados.</a:t>
            </a:r>
            <a:endParaRPr lang="en-US" sz="1150" dirty="0"/>
          </a:p>
        </p:txBody>
      </p:sp>
      <p:sp>
        <p:nvSpPr>
          <p:cNvPr id="4" name="Text 2"/>
          <p:cNvSpPr/>
          <p:nvPr/>
        </p:nvSpPr>
        <p:spPr>
          <a:xfrm>
            <a:off x="411480" y="1188720"/>
            <a:ext cx="8321040" cy="3566160"/>
          </a:xfrm>
          <a:prstGeom prst="rect">
            <a:avLst/>
          </a:prstGeom>
          <a:noFill/>
          <a:ln/>
        </p:spPr>
        <p:txBody>
          <a:bodyPr wrap="square" lIns="0" tIns="0" rIns="0" bIns="0" rtlCol="0" anchor="t"/>
          <a:lstStyle/>
          <a:p>
            <a:pPr marL="0" indent="0">
              <a:spcAft>
                <a:spcPts val="800"/>
              </a:spcAft>
              <a:buNone/>
            </a:pPr>
            <a:r>
              <a:rPr lang="en-US" sz="1250" b="1" dirty="0">
                <a:solidFill>
                  <a:srgbClr val="1F3864"/>
                </a:solidFill>
                <a:latin typeface="Calibri" pitchFamily="34" charset="0"/>
                <a:ea typeface="Calibri" pitchFamily="34" charset="-122"/>
                <a:cs typeface="Calibri" pitchFamily="34" charset="-120"/>
              </a:rPr>
              <a:t>Margen hogar. </a:t>
            </a:r>
            <a:r>
              <a:rPr lang="en-US" sz="1250" dirty="0">
                <a:solidFill>
                  <a:srgbClr val="202124"/>
                </a:solidFill>
                <a:latin typeface="Calibri" pitchFamily="34" charset="0"/>
                <a:ea typeface="Calibri" pitchFamily="34" charset="-122"/>
                <a:cs typeface="Calibri" pitchFamily="34" charset="-120"/>
              </a:rPr>
              <a:t>El pull deja que la billetera barra el saldo de caja de ahorro y cuenta sueldo de forma automática y sin costo. El depósito minorista perdería la fricción que lo hacía estable y barato: en los bancos más expuestos debería caer su peso en el pasivo.</a:t>
            </a:r>
            <a:endParaRPr lang="en-US" sz="1250" dirty="0"/>
          </a:p>
          <a:p>
            <a:pPr marL="0" indent="0">
              <a:spcAft>
                <a:spcPts val="800"/>
              </a:spcAft>
              <a:buNone/>
            </a:pPr>
            <a:r>
              <a:rPr lang="en-US" sz="1250" b="1" dirty="0">
                <a:solidFill>
                  <a:srgbClr val="1F3864"/>
                </a:solidFill>
                <a:latin typeface="Calibri" pitchFamily="34" charset="0"/>
                <a:ea typeface="Calibri" pitchFamily="34" charset="-122"/>
                <a:cs typeface="Calibri" pitchFamily="34" charset="-120"/>
              </a:rPr>
              <a:t>Margen comercio. </a:t>
            </a:r>
            <a:r>
              <a:rPr lang="en-US" sz="1250" dirty="0">
                <a:solidFill>
                  <a:srgbClr val="202124"/>
                </a:solidFill>
                <a:latin typeface="Calibri" pitchFamily="34" charset="0"/>
                <a:ea typeface="Calibri" pitchFamily="34" charset="-122"/>
                <a:cs typeface="Calibri" pitchFamily="34" charset="-120"/>
              </a:rPr>
              <a:t>Con el QR interoperable el comercio cobra en la CVU de la billetera, no en su cuenta bancaria. El depósito transaccional de las PyME podría migrar sin que el comercio cambie de banco.</a:t>
            </a:r>
            <a:endParaRPr lang="en-US" sz="1250" dirty="0"/>
          </a:p>
          <a:p>
            <a:pPr marL="0" indent="0">
              <a:spcAft>
                <a:spcPts val="800"/>
              </a:spcAft>
              <a:buNone/>
            </a:pPr>
            <a:r>
              <a:rPr lang="en-US" sz="1250" b="1" dirty="0">
                <a:solidFill>
                  <a:srgbClr val="1F3864"/>
                </a:solidFill>
                <a:latin typeface="Calibri" pitchFamily="34" charset="0"/>
                <a:ea typeface="Calibri" pitchFamily="34" charset="-122"/>
                <a:cs typeface="Calibri" pitchFamily="34" charset="-120"/>
              </a:rPr>
              <a:t>Margen geográfico. </a:t>
            </a:r>
            <a:r>
              <a:rPr lang="en-US" sz="1250" dirty="0">
                <a:solidFill>
                  <a:srgbClr val="202124"/>
                </a:solidFill>
                <a:latin typeface="Calibri" pitchFamily="34" charset="0"/>
                <a:ea typeface="Calibri" pitchFamily="34" charset="-122"/>
                <a:cs typeface="Calibri" pitchFamily="34" charset="-120"/>
              </a:rPr>
              <a:t>El peso que drena no se mudaría de una provincia a otra: saldría de todas hacia el custodio del fondo o del PSP, contabilizado en el centro. Entre provincias no habría que esperar reasignación; contra CABA, sí.</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56032"/>
            <a:ext cx="8321040" cy="457200"/>
          </a:xfrm>
          <a:prstGeom prst="rect">
            <a:avLst/>
          </a:prstGeom>
          <a:noFill/>
          <a:ln/>
        </p:spPr>
        <p:txBody>
          <a:bodyPr wrap="square" lIns="0" tIns="0" rIns="0" bIns="0" rtlCol="0" anchor="ctr"/>
          <a:lstStyle/>
          <a:p>
            <a:pPr marL="0" indent="0">
              <a:buNone/>
            </a:pPr>
            <a:r>
              <a:rPr lang="en-US" sz="2100" b="1" dirty="0">
                <a:solidFill>
                  <a:srgbClr val="1F3864"/>
                </a:solidFill>
                <a:latin typeface="Calibri" pitchFamily="34" charset="0"/>
                <a:ea typeface="Calibri" pitchFamily="34" charset="-122"/>
                <a:cs typeface="Calibri" pitchFamily="34" charset="-120"/>
              </a:rPr>
              <a:t>Cómo lo capturaríamos: exposición predeterminada y fecha de vigencia</a:t>
            </a:r>
            <a:endParaRPr lang="en-US" sz="2100" dirty="0"/>
          </a:p>
        </p:txBody>
      </p:sp>
      <p:sp>
        <p:nvSpPr>
          <p:cNvPr id="3" name="Text 1"/>
          <p:cNvSpPr/>
          <p:nvPr/>
        </p:nvSpPr>
        <p:spPr>
          <a:xfrm>
            <a:off x="411480" y="676656"/>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La regulación rige el mismo día para todos; la identificación vendría de comparar bancos más y menos expuestos alrededor de la fecha.</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1988820"/>
        </p:xfrm>
        <a:graphic>
          <a:graphicData uri="http://schemas.openxmlformats.org/drawingml/2006/table">
            <a:tbl>
              <a:tblPr/>
              <a:tblGrid>
                <a:gridCol w="1234440">
                  <a:extLst>
                    <a:ext uri="{9D8B030D-6E8A-4147-A177-3AD203B41FA5}">
                      <a16:colId xmlns:a16="http://schemas.microsoft.com/office/drawing/2014/main" val="20000"/>
                    </a:ext>
                  </a:extLst>
                </a:gridCol>
                <a:gridCol w="3538728">
                  <a:extLst>
                    <a:ext uri="{9D8B030D-6E8A-4147-A177-3AD203B41FA5}">
                      <a16:colId xmlns:a16="http://schemas.microsoft.com/office/drawing/2014/main" val="20001"/>
                    </a:ext>
                  </a:extLst>
                </a:gridCol>
                <a:gridCol w="3547872">
                  <a:extLst>
                    <a:ext uri="{9D8B030D-6E8A-4147-A177-3AD203B41FA5}">
                      <a16:colId xmlns:a16="http://schemas.microsoft.com/office/drawing/2014/main" val="20002"/>
                    </a:ext>
                  </a:extLst>
                </a:gridCol>
              </a:tblGrid>
              <a:tr h="0">
                <a:tc>
                  <a:txBody>
                    <a:bodyPr/>
                    <a:lstStyle/>
                    <a:p>
                      <a:pPr marL="0" indent="0">
                        <a:buNone/>
                      </a:pP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Diseño A: banco × provincia</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Diseño B: banco (balance)</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Exposición</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Adopción de billeteras de la provincia, fijada a 2021q3, la última foto previa al cluster de reformas.</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Adopción provincial promediada con el peso de cada provincia en los depósitos del banco, con pesos fijados al pre.</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Depósitos y préstamos del banco en cada provincia, trimestral.</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Composición del pasivo del banco: caja de ahorro y cuenta sueldo, fondeo mayorista remunerado, plazo fijo. Mensual.</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Comparación</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Dentro del mismo banco y mes, entre sus provincias: absorbe todo shock propio del banco.</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Entre bancos, controlando el nivel del banco y el mes: es donde viviría el mecanismo de fondeo.</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b="1" dirty="0">
                          <a:solidFill>
                            <a:srgbClr val="1F3864"/>
                          </a:solidFill>
                          <a:latin typeface="Calibri" pitchFamily="34" charset="0"/>
                          <a:ea typeface="Calibri" pitchFamily="34" charset="-122"/>
                          <a:cs typeface="Calibri" pitchFamily="34" charset="-120"/>
                        </a:rPr>
                        <a:t>Qué lo validaría</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Trayectorias planas antes de la fecha; errores agrupados por provincia (24 grupos).</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050" dirty="0">
                          <a:solidFill>
                            <a:srgbClr val="202124"/>
                          </a:solidFill>
                          <a:latin typeface="Calibri" pitchFamily="34" charset="0"/>
                          <a:ea typeface="Calibri" pitchFamily="34" charset="-122"/>
                          <a:cs typeface="Calibri" pitchFamily="34" charset="-120"/>
                        </a:rPr>
                        <a:t>Lo mismo, más controles por tipo de banco; Santa Fe documentada y excluida en robustez.</a:t>
                      </a:r>
                      <a:endParaRPr lang="en-US" sz="1050" dirty="0">
                        <a:latin typeface="Calibri" charset="0"/>
                        <a:ea typeface="Calibri" charset="0"/>
                        <a:cs typeface="Calibri" charset="0"/>
                      </a:endParaRPr>
                    </a:p>
                  </a:txBody>
                  <a:tcPr marL="54864" marR="54864" marT="54864" marB="54864">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411480" y="4526280"/>
            <a:ext cx="8321040" cy="365760"/>
          </a:xfrm>
          <a:prstGeom prst="rect">
            <a:avLst/>
          </a:prstGeom>
          <a:noFill/>
          <a:ln/>
        </p:spPr>
        <p:txBody>
          <a:bodyPr wrap="square" lIns="0" tIns="0" rIns="0" bIns="0" rtlCol="0" anchor="ctr"/>
          <a:lstStyle/>
          <a:p>
            <a:pPr marL="0" indent="0">
              <a:buNone/>
            </a:pPr>
            <a:r>
              <a:rPr lang="en-US" sz="1100" i="1" dirty="0">
                <a:solidFill>
                  <a:srgbClr val="5A6270"/>
                </a:solidFill>
                <a:latin typeface="Calibri" pitchFamily="34" charset="0"/>
                <a:ea typeface="Calibri" pitchFamily="34" charset="-122"/>
                <a:cs typeface="Calibri" pitchFamily="34" charset="-120"/>
              </a:rPr>
              <a:t>Primero en crudo, sin regresión: si la comparación no se ve en las series, no va a aparecer en los coeficientes.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56032"/>
            <a:ext cx="8321040" cy="457200"/>
          </a:xfrm>
          <a:prstGeom prst="rect">
            <a:avLst/>
          </a:prstGeom>
          <a:noFill/>
          <a:ln/>
        </p:spPr>
        <p:txBody>
          <a:bodyPr wrap="square" lIns="0" tIns="0" rIns="0" bIns="0" rtlCol="0" anchor="ctr"/>
          <a:lstStyle/>
          <a:p>
            <a:pPr marL="0" indent="0">
              <a:buNone/>
            </a:pPr>
            <a:r>
              <a:rPr lang="en-US" sz="2100" b="1" dirty="0" err="1">
                <a:solidFill>
                  <a:srgbClr val="1F3864"/>
                </a:solidFill>
                <a:latin typeface="Calibri" pitchFamily="34" charset="0"/>
                <a:ea typeface="Calibri" pitchFamily="34" charset="-122"/>
                <a:cs typeface="Calibri" pitchFamily="34" charset="-120"/>
              </a:rPr>
              <a:t>Exposición</a:t>
            </a:r>
            <a:r>
              <a:rPr lang="en-US" sz="2100" b="1" dirty="0">
                <a:solidFill>
                  <a:srgbClr val="1F3864"/>
                </a:solidFill>
                <a:latin typeface="Calibri" pitchFamily="34" charset="0"/>
                <a:ea typeface="Calibri" pitchFamily="34" charset="-122"/>
                <a:cs typeface="Calibri" pitchFamily="34" charset="-120"/>
              </a:rPr>
              <a:t> </a:t>
            </a:r>
            <a:r>
              <a:rPr lang="en-US" sz="2100" b="1" dirty="0" err="1">
                <a:solidFill>
                  <a:srgbClr val="1F3864"/>
                </a:solidFill>
                <a:latin typeface="Calibri" pitchFamily="34" charset="0"/>
                <a:ea typeface="Calibri" pitchFamily="34" charset="-122"/>
                <a:cs typeface="Calibri" pitchFamily="34" charset="-120"/>
              </a:rPr>
              <a:t>por</a:t>
            </a:r>
            <a:r>
              <a:rPr lang="en-US" sz="2100" b="1" dirty="0">
                <a:solidFill>
                  <a:srgbClr val="1F3864"/>
                </a:solidFill>
                <a:latin typeface="Calibri" pitchFamily="34" charset="0"/>
                <a:ea typeface="Calibri" pitchFamily="34" charset="-122"/>
                <a:cs typeface="Calibri" pitchFamily="34" charset="-120"/>
              </a:rPr>
              <a:t> </a:t>
            </a:r>
            <a:r>
              <a:rPr lang="en-US" sz="2100" b="1" dirty="0" err="1">
                <a:solidFill>
                  <a:srgbClr val="1F3864"/>
                </a:solidFill>
                <a:latin typeface="Calibri" pitchFamily="34" charset="0"/>
                <a:ea typeface="Calibri" pitchFamily="34" charset="-122"/>
                <a:cs typeface="Calibri" pitchFamily="34" charset="-120"/>
              </a:rPr>
              <a:t>adopción</a:t>
            </a:r>
            <a:endParaRPr lang="en-US" sz="2100" dirty="0"/>
          </a:p>
        </p:txBody>
      </p:sp>
      <p:sp>
        <p:nvSpPr>
          <p:cNvPr id="3" name="Text 1"/>
          <p:cNvSpPr/>
          <p:nvPr/>
        </p:nvSpPr>
        <p:spPr>
          <a:xfrm>
            <a:off x="411480" y="676656"/>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Personas con cuenta de pago como % de personas con alguna cuenta, por provincia. Líneas: vigencia plena del QR (2021q4) y del pull (2022q3).</a:t>
            </a:r>
            <a:endParaRPr lang="en-US" sz="1150" dirty="0"/>
          </a:p>
        </p:txBody>
      </p:sp>
      <p:sp>
        <p:nvSpPr>
          <p:cNvPr id="4" name="Text 2"/>
          <p:cNvSpPr/>
          <p:nvPr/>
        </p:nvSpPr>
        <p:spPr>
          <a:xfrm>
            <a:off x="411480" y="1024128"/>
            <a:ext cx="8321040" cy="1188720"/>
          </a:xfrm>
          <a:prstGeom prst="rect">
            <a:avLst/>
          </a:prstGeom>
          <a:noFill/>
          <a:ln/>
        </p:spPr>
        <p:txBody>
          <a:bodyPr wrap="square" lIns="0" tIns="0" rIns="0" bIns="0" rtlCol="0" anchor="t"/>
          <a:lstStyle/>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Sin escalón en las fechas. </a:t>
            </a:r>
            <a:r>
              <a:rPr lang="en-US" sz="1150" dirty="0">
                <a:solidFill>
                  <a:srgbClr val="202124"/>
                </a:solidFill>
                <a:latin typeface="Calibri" pitchFamily="34" charset="0"/>
                <a:ea typeface="Calibri" pitchFamily="34" charset="-122"/>
                <a:cs typeface="Calibri" pitchFamily="34" charset="-120"/>
              </a:rPr>
              <a:t>El boom de adopción es 2020-2021, previo a las reformas; la vigencia plena no acelera a ninguna provincia en particular.</a:t>
            </a:r>
            <a:endParaRPr lang="en-US" sz="1150" dirty="0"/>
          </a:p>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Qué explotaríamos. </a:t>
            </a:r>
            <a:r>
              <a:rPr lang="en-US" sz="1150" dirty="0">
                <a:solidFill>
                  <a:srgbClr val="202124"/>
                </a:solidFill>
                <a:latin typeface="Calibri" pitchFamily="34" charset="0"/>
                <a:ea typeface="Calibri" pitchFamily="34" charset="-122"/>
                <a:cs typeface="Calibri" pitchFamily="34" charset="-120"/>
              </a:rPr>
              <a:t>La dispersión de niveles al baseline, máxima justo antes del cluster: la reforma activaría comportamientos del stock ya adoptado.</a:t>
            </a:r>
            <a:endParaRPr lang="en-US" sz="1150" dirty="0"/>
          </a:p>
        </p:txBody>
      </p:sp>
      <p:pic>
        <p:nvPicPr>
          <p:cNvPr id="5" name="Image 0" descr="mot_adopcion_spaghetti-1.png"/>
          <p:cNvPicPr>
            <a:picLocks noChangeAspect="1"/>
          </p:cNvPicPr>
          <p:nvPr/>
        </p:nvPicPr>
        <p:blipFill>
          <a:blip r:embed="rId2"/>
          <a:stretch>
            <a:fillRect/>
          </a:stretch>
        </p:blipFill>
        <p:spPr>
          <a:xfrm>
            <a:off x="1506682" y="2240280"/>
            <a:ext cx="6130636" cy="2697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256032"/>
            <a:ext cx="8321040" cy="457200"/>
          </a:xfrm>
          <a:prstGeom prst="rect">
            <a:avLst/>
          </a:prstGeom>
          <a:noFill/>
          <a:ln/>
        </p:spPr>
        <p:txBody>
          <a:bodyPr wrap="square" lIns="0" tIns="0" rIns="0" bIns="0" rtlCol="0" anchor="ctr"/>
          <a:lstStyle/>
          <a:p>
            <a:pPr marL="0" indent="0">
              <a:buNone/>
            </a:pPr>
            <a:r>
              <a:rPr lang="en-US" b="1" dirty="0">
                <a:solidFill>
                  <a:srgbClr val="1F3864"/>
                </a:solidFill>
                <a:latin typeface="Calibri" pitchFamily="34" charset="0"/>
                <a:ea typeface="Calibri" pitchFamily="34" charset="-122"/>
                <a:cs typeface="Calibri" pitchFamily="34" charset="-120"/>
              </a:rPr>
              <a:t>Tras las reformas las provincias crecen parejo: el ranking de exposición quedaría fijo</a:t>
            </a:r>
            <a:endParaRPr lang="en-US" dirty="0"/>
          </a:p>
        </p:txBody>
      </p:sp>
      <p:sp>
        <p:nvSpPr>
          <p:cNvPr id="3" name="Text 1"/>
          <p:cNvSpPr/>
          <p:nvPr/>
        </p:nvSpPr>
        <p:spPr>
          <a:xfrm>
            <a:off x="411480" y="676656"/>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Desvío estándar entre provincias del crecimiento trimestral de adopción, neto del crecimiento nacional.</a:t>
            </a:r>
            <a:endParaRPr lang="en-US" sz="1150" dirty="0"/>
          </a:p>
        </p:txBody>
      </p:sp>
      <p:sp>
        <p:nvSpPr>
          <p:cNvPr id="4" name="Text 2"/>
          <p:cNvSpPr/>
          <p:nvPr/>
        </p:nvSpPr>
        <p:spPr>
          <a:xfrm>
            <a:off x="411480" y="1024128"/>
            <a:ext cx="8321040" cy="1188720"/>
          </a:xfrm>
          <a:prstGeom prst="rect">
            <a:avLst/>
          </a:prstGeom>
          <a:noFill/>
          <a:ln/>
        </p:spPr>
        <p:txBody>
          <a:bodyPr wrap="square" lIns="0" tIns="0" rIns="0" bIns="0" rtlCol="0" anchor="t"/>
          <a:lstStyle/>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El pico de 2022q1 es una sola provincia. </a:t>
            </a:r>
            <a:r>
              <a:rPr lang="en-US" sz="1150" dirty="0">
                <a:solidFill>
                  <a:srgbClr val="202124"/>
                </a:solidFill>
                <a:latin typeface="Calibri" pitchFamily="34" charset="0"/>
                <a:ea typeface="Calibri" pitchFamily="34" charset="-122"/>
                <a:cs typeface="Calibri" pitchFamily="34" charset="-120"/>
              </a:rPr>
              <a:t>Santa Fe cae 24 puntos en un trimestre, consistente con el ciclo de la billetera provincial. Sin Santa Fe, la serie es plana.</a:t>
            </a:r>
            <a:endParaRPr lang="en-US" sz="1150" dirty="0"/>
          </a:p>
          <a:p>
            <a:pPr marL="171450" indent="-171450">
              <a:spcAft>
                <a:spcPts val="800"/>
              </a:spcAft>
              <a:buFont typeface="Arial" panose="020B0604020202020204" pitchFamily="34" charset="0"/>
              <a:buChar char="•"/>
            </a:pPr>
            <a:r>
              <a:rPr lang="en-US" sz="1150" dirty="0" err="1">
                <a:solidFill>
                  <a:srgbClr val="202124"/>
                </a:solidFill>
                <a:latin typeface="Calibri" pitchFamily="34" charset="0"/>
                <a:ea typeface="Calibri" pitchFamily="34" charset="-122"/>
                <a:cs typeface="Calibri" pitchFamily="34" charset="-120"/>
              </a:rPr>
              <a:t>Ninguna</a:t>
            </a:r>
            <a:r>
              <a:rPr lang="en-US" sz="1150" dirty="0">
                <a:solidFill>
                  <a:srgbClr val="202124"/>
                </a:solidFill>
                <a:latin typeface="Calibri" pitchFamily="34" charset="0"/>
                <a:ea typeface="Calibri" pitchFamily="34" charset="-122"/>
                <a:cs typeface="Calibri" pitchFamily="34" charset="-120"/>
              </a:rPr>
              <a:t> provincia adopta diferencialmente por la reforma: la exposición fijada a 2021q3 no se reordena después, y el efecto que encontremos no sería adopción nueva.</a:t>
            </a:r>
            <a:endParaRPr lang="en-US" sz="1150" dirty="0"/>
          </a:p>
        </p:txBody>
      </p:sp>
      <p:pic>
        <p:nvPicPr>
          <p:cNvPr id="5" name="Image 0" descr="mot_adopcion_sd_crecimiento-1.png"/>
          <p:cNvPicPr>
            <a:picLocks noChangeAspect="1"/>
          </p:cNvPicPr>
          <p:nvPr/>
        </p:nvPicPr>
        <p:blipFill>
          <a:blip r:embed="rId2"/>
          <a:stretch>
            <a:fillRect/>
          </a:stretch>
        </p:blipFill>
        <p:spPr>
          <a:xfrm>
            <a:off x="1506682" y="2240280"/>
            <a:ext cx="6130636" cy="26974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169164"/>
            <a:ext cx="8321040" cy="457200"/>
          </a:xfrm>
          <a:prstGeom prst="rect">
            <a:avLst/>
          </a:prstGeom>
          <a:noFill/>
          <a:ln/>
        </p:spPr>
        <p:txBody>
          <a:bodyPr wrap="square" lIns="0" tIns="0" rIns="0" bIns="0" rtlCol="0" anchor="ctr"/>
          <a:lstStyle/>
          <a:p>
            <a:pPr marL="0" indent="0">
              <a:buNone/>
            </a:pPr>
            <a:r>
              <a:rPr lang="en-US" sz="2100" b="1" dirty="0">
                <a:solidFill>
                  <a:srgbClr val="1F3864"/>
                </a:solidFill>
                <a:latin typeface="Calibri" pitchFamily="34" charset="0"/>
                <a:ea typeface="Calibri" pitchFamily="34" charset="-122"/>
                <a:cs typeface="Calibri" pitchFamily="34" charset="-120"/>
              </a:rPr>
              <a:t>El mapa de depósitos de cada banco es estructural</a:t>
            </a:r>
            <a:endParaRPr lang="en-US" sz="2100" dirty="0"/>
          </a:p>
        </p:txBody>
      </p:sp>
      <p:sp>
        <p:nvSpPr>
          <p:cNvPr id="3" name="Text 1"/>
          <p:cNvSpPr/>
          <p:nvPr/>
        </p:nvSpPr>
        <p:spPr>
          <a:xfrm>
            <a:off x="411480" y="543741"/>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Peso de cada provincia en los depósitos de cada banco: 2019 contra 2021 pre reforma. Cada punto, un par banco-provincia.</a:t>
            </a:r>
            <a:endParaRPr lang="en-US" sz="1150" dirty="0"/>
          </a:p>
        </p:txBody>
      </p:sp>
      <p:pic>
        <p:nvPicPr>
          <p:cNvPr id="5" name="Image 0" descr="out_pesos_estabilidad-1.png"/>
          <p:cNvPicPr>
            <a:picLocks noChangeAspect="1"/>
          </p:cNvPicPr>
          <p:nvPr/>
        </p:nvPicPr>
        <p:blipFill>
          <a:blip r:embed="rId2"/>
          <a:stretch>
            <a:fillRect/>
          </a:stretch>
        </p:blipFill>
        <p:spPr>
          <a:xfrm>
            <a:off x="2014946" y="960120"/>
            <a:ext cx="4183380" cy="41833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56032"/>
            <a:ext cx="8321040" cy="457200"/>
          </a:xfrm>
          <a:prstGeom prst="rect">
            <a:avLst/>
          </a:prstGeom>
          <a:noFill/>
          <a:ln/>
        </p:spPr>
        <p:txBody>
          <a:bodyPr wrap="square" lIns="0" tIns="0" rIns="0" bIns="0" rtlCol="0" anchor="ctr"/>
          <a:lstStyle/>
          <a:p>
            <a:pPr marL="0" indent="0">
              <a:buNone/>
            </a:pPr>
            <a:r>
              <a:rPr lang="en-US" sz="2100" b="1" dirty="0">
                <a:solidFill>
                  <a:srgbClr val="1F3864"/>
                </a:solidFill>
                <a:latin typeface="Calibri" pitchFamily="34" charset="0"/>
                <a:ea typeface="Calibri" pitchFamily="34" charset="-122"/>
                <a:cs typeface="Calibri" pitchFamily="34" charset="-120"/>
              </a:rPr>
              <a:t>El drenaje no sería entre provincias: sería hacia el centro</a:t>
            </a:r>
            <a:endParaRPr lang="en-US" sz="2100" dirty="0"/>
          </a:p>
        </p:txBody>
      </p:sp>
      <p:sp>
        <p:nvSpPr>
          <p:cNvPr id="3" name="Text 1"/>
          <p:cNvSpPr/>
          <p:nvPr/>
        </p:nvSpPr>
        <p:spPr>
          <a:xfrm>
            <a:off x="411480" y="676656"/>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Depósitos reales por provincia, mediana de cada grupo, índice 100 en 2021q3.</a:t>
            </a:r>
            <a:endParaRPr lang="en-US" sz="1150" dirty="0"/>
          </a:p>
        </p:txBody>
      </p:sp>
      <p:sp>
        <p:nvSpPr>
          <p:cNvPr id="4" name="Text 2"/>
          <p:cNvSpPr/>
          <p:nvPr/>
        </p:nvSpPr>
        <p:spPr>
          <a:xfrm>
            <a:off x="411480" y="1024128"/>
            <a:ext cx="8321040" cy="1188720"/>
          </a:xfrm>
          <a:prstGeom prst="rect">
            <a:avLst/>
          </a:prstGeom>
          <a:noFill/>
          <a:ln/>
        </p:spPr>
        <p:txBody>
          <a:bodyPr wrap="square" lIns="0" tIns="0" rIns="0" bIns="0" rtlCol="0" anchor="t"/>
          <a:lstStyle/>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CABA se despega desde mediados de 2022. </a:t>
            </a:r>
            <a:r>
              <a:rPr lang="en-US" sz="1150" dirty="0">
                <a:solidFill>
                  <a:srgbClr val="202124"/>
                </a:solidFill>
                <a:latin typeface="Calibri" pitchFamily="34" charset="0"/>
                <a:ea typeface="Calibri" pitchFamily="34" charset="-122"/>
                <a:cs typeface="Calibri" pitchFamily="34" charset="-120"/>
              </a:rPr>
              <a:t>Consistente con que la contrapartida del drenaje se contabilice en los custodios del centro. Sugestivo y no más que eso: CABA concentra también lo mayorista y lo público; la versión seria es el balance por banco.</a:t>
            </a:r>
            <a:endParaRPr lang="en-US" sz="1150" dirty="0"/>
          </a:p>
        </p:txBody>
      </p:sp>
      <p:pic>
        <p:nvPicPr>
          <p:cNvPr id="5" name="Image 0" descr="out_prov_grupos_dep-1.png"/>
          <p:cNvPicPr>
            <a:picLocks noChangeAspect="1"/>
          </p:cNvPicPr>
          <p:nvPr/>
        </p:nvPicPr>
        <p:blipFill>
          <a:blip r:embed="rId2"/>
          <a:stretch>
            <a:fillRect/>
          </a:stretch>
        </p:blipFill>
        <p:spPr>
          <a:xfrm>
            <a:off x="1062099" y="1600200"/>
            <a:ext cx="7195704" cy="31661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56032"/>
            <a:ext cx="8321040" cy="457200"/>
          </a:xfrm>
          <a:prstGeom prst="rect">
            <a:avLst/>
          </a:prstGeom>
          <a:noFill/>
          <a:ln/>
        </p:spPr>
        <p:txBody>
          <a:bodyPr wrap="square" lIns="0" tIns="0" rIns="0" bIns="0" rtlCol="0" anchor="ctr"/>
          <a:lstStyle/>
          <a:p>
            <a:pPr marL="0" indent="0">
              <a:buNone/>
            </a:pPr>
            <a:r>
              <a:rPr lang="en-US" sz="2100" b="1" dirty="0">
                <a:solidFill>
                  <a:srgbClr val="1F3864"/>
                </a:solidFill>
                <a:latin typeface="Calibri" pitchFamily="34" charset="0"/>
                <a:ea typeface="Calibri" pitchFamily="34" charset="-122"/>
                <a:cs typeface="Calibri" pitchFamily="34" charset="-120"/>
              </a:rPr>
              <a:t>Cómo seguiríamos</a:t>
            </a:r>
            <a:endParaRPr lang="en-US" sz="2100" dirty="0"/>
          </a:p>
        </p:txBody>
      </p:sp>
      <p:sp>
        <p:nvSpPr>
          <p:cNvPr id="3" name="Text 1"/>
          <p:cNvSpPr/>
          <p:nvPr/>
        </p:nvSpPr>
        <p:spPr>
          <a:xfrm>
            <a:off x="411480" y="676656"/>
            <a:ext cx="8321040" cy="274320"/>
          </a:xfrm>
          <a:prstGeom prst="rect">
            <a:avLst/>
          </a:prstGeom>
          <a:noFill/>
          <a:ln/>
        </p:spPr>
        <p:txBody>
          <a:bodyPr wrap="square" lIns="0" tIns="0" rIns="0" bIns="0" rtlCol="0" anchor="ctr"/>
          <a:lstStyle/>
          <a:p>
            <a:pPr marL="0" indent="0">
              <a:buNone/>
            </a:pPr>
            <a:r>
              <a:rPr lang="en-US" sz="1150" dirty="0">
                <a:solidFill>
                  <a:srgbClr val="5A6270"/>
                </a:solidFill>
                <a:latin typeface="Calibri" pitchFamily="34" charset="0"/>
                <a:ea typeface="Calibri" pitchFamily="34" charset="-122"/>
                <a:cs typeface="Calibri" pitchFamily="34" charset="-120"/>
              </a:rPr>
              <a:t>De las series en crudo a los event studies, en este orden.</a:t>
            </a:r>
            <a:endParaRPr lang="en-US" sz="1150" dirty="0"/>
          </a:p>
        </p:txBody>
      </p:sp>
      <p:sp>
        <p:nvSpPr>
          <p:cNvPr id="4" name="Text 2"/>
          <p:cNvSpPr/>
          <p:nvPr/>
        </p:nvSpPr>
        <p:spPr>
          <a:xfrm>
            <a:off x="411480" y="1051560"/>
            <a:ext cx="8321040" cy="3840480"/>
          </a:xfrm>
          <a:prstGeom prst="rect">
            <a:avLst/>
          </a:prstGeom>
          <a:noFill/>
          <a:ln/>
        </p:spPr>
        <p:txBody>
          <a:bodyPr wrap="square" lIns="0" tIns="0" rIns="0" bIns="0" rtlCol="0" anchor="t"/>
          <a:lstStyle/>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1. Composición del pasivo por banco. </a:t>
            </a:r>
            <a:r>
              <a:rPr lang="en-US" sz="1150" dirty="0">
                <a:solidFill>
                  <a:srgbClr val="202124"/>
                </a:solidFill>
                <a:latin typeface="Calibri" pitchFamily="34" charset="0"/>
                <a:ea typeface="Calibri" pitchFamily="34" charset="-122"/>
                <a:cs typeface="Calibri" pitchFamily="34" charset="-120"/>
              </a:rPr>
              <a:t>Event study con la exposición continua del banco, mes a mes alrededor de sep-2022 y nov-2021: caja de ahorro más cuenta sueldo, fondeo mayorista remunerado y plazo fijo como shares del pasivo. Ventanas que terminan antes de abr-2024, donde colisionan cuatro normas.</a:t>
            </a:r>
            <a:endParaRPr lang="en-US" sz="1150" dirty="0"/>
          </a:p>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2. Margen real y placebo cruzado. </a:t>
            </a:r>
            <a:r>
              <a:rPr lang="en-US" sz="1150" dirty="0">
                <a:solidFill>
                  <a:srgbClr val="202124"/>
                </a:solidFill>
                <a:latin typeface="Calibri" pitchFamily="34" charset="0"/>
                <a:ea typeface="Calibri" pitchFamily="34" charset="-122"/>
                <a:cs typeface="Calibri" pitchFamily="34" charset="-120"/>
              </a:rPr>
              <a:t>Préstamos al sector privado como segunda etapa. Y el placebo entre ideas: el pull no debería mover a los bancos custodios de FCI, y el encaje de 2022 no debería moverse con la exposición geográfica.</a:t>
            </a:r>
            <a:endParaRPr lang="en-US" sz="1150" dirty="0"/>
          </a:p>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3. Santa Fe, documentada. </a:t>
            </a:r>
            <a:r>
              <a:rPr lang="en-US" sz="1150" dirty="0">
                <a:solidFill>
                  <a:srgbClr val="202124"/>
                </a:solidFill>
                <a:latin typeface="Calibri" pitchFamily="34" charset="0"/>
                <a:ea typeface="Calibri" pitchFamily="34" charset="-122"/>
                <a:cs typeface="Calibri" pitchFamily="34" charset="-120"/>
              </a:rPr>
              <a:t>Confirmar el ciclo de la billetera provincial con fechas y norma, y dejarla como exclusión de robustez fundada, no ad hoc.</a:t>
            </a:r>
            <a:endParaRPr lang="en-US" sz="1150" dirty="0"/>
          </a:p>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4. Datos que pediríamos. </a:t>
            </a:r>
            <a:r>
              <a:rPr lang="en-US" sz="1150" dirty="0">
                <a:solidFill>
                  <a:srgbClr val="202124"/>
                </a:solidFill>
                <a:latin typeface="Calibri" pitchFamily="34" charset="0"/>
                <a:ea typeface="Calibri" pitchFamily="34" charset="-122"/>
                <a:cs typeface="Calibri" pitchFamily="34" charset="-120"/>
              </a:rPr>
              <a:t>Saldos de custodia de PSP por banco (R.I.-PSP) y la serie intra versus interoperable que el BCRA dejó de publicar: convertirían la exposición en dosis observada.</a:t>
            </a:r>
            <a:endParaRPr lang="en-US" sz="1150" dirty="0"/>
          </a:p>
          <a:p>
            <a:pPr marL="0" indent="0">
              <a:spcAft>
                <a:spcPts val="800"/>
              </a:spcAft>
              <a:buNone/>
            </a:pPr>
            <a:r>
              <a:rPr lang="en-US" sz="1150" b="1" dirty="0">
                <a:solidFill>
                  <a:srgbClr val="1F3864"/>
                </a:solidFill>
                <a:latin typeface="Calibri" pitchFamily="34" charset="0"/>
                <a:ea typeface="Calibri" pitchFamily="34" charset="-122"/>
                <a:cs typeface="Calibri" pitchFamily="34" charset="-120"/>
              </a:rPr>
              <a:t>5. Inferencia. </a:t>
            </a:r>
            <a:r>
              <a:rPr lang="en-US" sz="1150" dirty="0">
                <a:solidFill>
                  <a:srgbClr val="202124"/>
                </a:solidFill>
                <a:latin typeface="Calibri" pitchFamily="34" charset="0"/>
                <a:ea typeface="Calibri" pitchFamily="34" charset="-122"/>
                <a:cs typeface="Calibri" pitchFamily="34" charset="-120"/>
              </a:rPr>
              <a:t>La variación tratante es provincial: errores agrupados por provincia y wild bootstrap con 24 grupos, desde la primera tabla.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1158</TotalTime>
  <Words>3331</Words>
  <Application>Microsoft Macintosh PowerPoint</Application>
  <PresentationFormat>On-screen Show (16:9)</PresentationFormat>
  <Paragraphs>276</Paragraphs>
  <Slides>17</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Fintech-Dynamics</dc:creator>
  <cp:lastModifiedBy>Sofía Attadía</cp:lastModifiedBy>
  <cp:revision>13</cp:revision>
  <dcterms:created xsi:type="dcterms:W3CDTF">2026-08-10T16:25:01Z</dcterms:created>
  <dcterms:modified xsi:type="dcterms:W3CDTF">2026-08-11T15:14:27Z</dcterms:modified>
</cp:coreProperties>
</file>