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191" d="100"/>
          <a:sy n="191" d="100"/>
        </p:scale>
        <p:origin x="-368" y="-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334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Psps</a:t>
            </a: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banca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disponibles y </a:t>
            </a:r>
            <a:r>
              <a:rPr lang="en-US" sz="1800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 los datos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fuentes: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BCRA – Indicadores de inclusión financiera: nivel provincia (mensual y trimestral)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BCRA – Información de Entidades Financieras (IEF): nivel banco y banco × provincia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INDEC – IPC: nacional y por región, mensual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CAFCI – fondos comunes: nivel fondo, diario (a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BCRA, </a:t>
            </a:r>
            <a:r>
              <a:rPr lang="en-US" sz="2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</a:t>
            </a: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financiera</a:t>
            </a: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r>
              <a:rPr lang="en-US" sz="2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</a:t>
            </a: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provincial.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con financiamiento (% de la población adulta) — mensual, 2017m1 a 2025m12</a:t>
            </a:r>
            <a:endParaRPr lang="en-US" sz="14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por grupo de acreedor (bancos públicos y privados, compañías financieras, OPNFC ≈ fintech, tarjetas no bancarias)</a:t>
            </a:r>
            <a:endParaRPr lang="en-US" sz="14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producto: adelantos, personales, hipotecarios, prendarios, tarjetas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acceso — mensual, 2019m1 a 2025m12</a:t>
            </a:r>
            <a:endParaRPr lang="en-US" sz="14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Sucursales, cajeros automáticos, terminales de autoservicio, agencias complementarias</a:t>
            </a:r>
            <a:endParaRPr lang="en-US" sz="14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abierto por entidad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Tenencia de cuentas — trimestral, 2019q1 a 2025q4</a:t>
            </a:r>
            <a:endParaRPr lang="en-US" sz="14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con solo cuenta bancaria (CBU), solo cuenta de pago (CVU), o ambas</a:t>
            </a:r>
            <a:endParaRPr lang="en-US" sz="14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medida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adopción de billeteras; el margen “solo CVU” captura la inclusión que ocurre únicamente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fintech.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BCRA, IEF. </a:t>
            </a:r>
            <a:r>
              <a:rPr lang="en-US" sz="2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</a:t>
            </a: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banco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mensuales por entidad — 2018m1 a 2026m4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(histórico disponible desde 1994)</a:t>
            </a:r>
            <a:endParaRPr lang="en-US" sz="14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entidades por mes: 63 bancos y 14 compañías financieras</a:t>
            </a:r>
            <a:endParaRPr lang="en-US" sz="14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Activo, préstamos (total y al sector privado), depósitos por tipo (cta. cte., caja de ahorro, cta. sueldo, plazo fijo), patrimonio, resultados</a:t>
            </a:r>
            <a:endParaRPr lang="en-US" sz="14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remuneradas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no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remuneradas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personas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jurídicas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viven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FCI y PSPs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respectivamente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institucional mensual: público / privado nacional / extranjero / compañía financiera (sigue cambios de grupo en el tiempo)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banco: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cuentas y tarjetas, dotación de personal, indicadores prudenciales, situación de la cartera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BCRA, IEF. </a:t>
            </a:r>
            <a:r>
              <a:rPr lang="en-US" sz="2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</a:t>
            </a: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banco × provincia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física — mensual, 2018m1 a 2026m4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Sucursales (plenas, de operatoria específica, móviles), cajeros y terminales de cada banco en cada provincia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trimestral, 2018q1 a 2026q1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y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TOTALES de cada banco en cada provincia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apertura por tipo de depósito; falta 2020q1 (el BCRA no lo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publicó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habría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(INDEC) — mensual, dic-2016 a jun-2026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general nacional y seis regiones (GBA, Pampeana, NOA, NEA, Cuyo, Patagonia)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CAFCI — diario, por fondo (a incorporar)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Patrimonio, flujos y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rendimientos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cada fondo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billetera invierte en un fondo identificable por sus términos y condiciones (Mercado Pago → Mercado Fondo, Ualá → Ualintec, etc.). NO TENEMOS DATOS DE CANTIDAD EN CADA FONDO.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Fáciles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sumar si hacen falta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adulta por provincia (INDEC): denominadores para tasas per cápita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Empleo registrado provincial (SIPA): efectos reales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</a:t>
            </a:r>
            <a:r>
              <a:rPr lang="en-US" sz="2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 por jurisdicción: no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permitan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cuotapartista</a:t>
            </a:r>
            <a:endParaRPr lang="en-US" sz="15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 de PSP por banco: no separable en el plan de cuentas (queda mezclada dentro de las cuentas corrientes comunes de personas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jurídicas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mal proxy.</a:t>
            </a:r>
            <a:endParaRPr lang="en-US" sz="15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banco x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desagregados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apertura vista / plazo fijo existe solo a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banco;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Podemos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regional de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Tenencia de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(inclusion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financiera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trimestral (no mensual) y recién desde 2019</a:t>
            </a:r>
            <a:endParaRPr lang="en-US" sz="15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práctica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diseños regionales trabajan con totales provinciales y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trimestral</a:t>
            </a:r>
            <a:endParaRPr lang="en-US" sz="150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descomposición fina del fondeo (vista, plazo, FCI) se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nivel banco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1: Interoperabilidad de </a:t>
            </a:r>
            <a:r>
              <a:rPr lang="en-US" sz="2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se venía: redes de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cerradas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QR de cada billetera solo aceptaba esa billetera; aceptación fragmentada para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cambió: esquema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Transferencias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3.0, pagos con transferencia sobre QR interoperable</a:t>
            </a:r>
            <a:endParaRPr lang="en-US" sz="135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Lanzamiento: diciembre 2020; obligatoriedad plena del QR interoperable: noviembre 2021</a:t>
            </a:r>
            <a:endParaRPr lang="en-US" sz="135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Refuerzos: QR interoperable con tarjeta de crédito (abril 2024) y Com. “A” 8032 (mayo 2024)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implicó: cualquier billetera paga en cualquier QR → cae el valor de la exclusividad de red y sube el valor de tener una billetera (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transaccional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afectó: usuarios y comercios (adopción); PSP (competencia en pagos); bancos (competencia por los saldos transaccionales)</a:t>
            </a:r>
            <a:endParaRPr lang="en-US" sz="135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explotar</a:t>
            </a:r>
            <a:endParaRPr lang="en-US" sz="135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nacional con fecha × exposición provincial predeterminada → event study provincial de adopción y crédito</a:t>
            </a:r>
            <a:endParaRPr lang="en-US" sz="1350" dirty="0"/>
          </a:p>
          <a:p>
            <a:pPr marL="685800" lvl="1" indent="-342900" algn="l">
              <a:spcAft>
                <a:spcPts val="400"/>
              </a:spcAft>
              <a:buSzPct val="100000"/>
              <a:buChar char="–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</a:t>
            </a:r>
            <a:r>
              <a:rPr lang="en-US" sz="13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pensamos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3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banco: shares </a:t>
            </a:r>
            <a:r>
              <a:rPr lang="en-US" sz="13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geográficos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banco × adopción provincial (shift-share) u </a:t>
            </a:r>
            <a:r>
              <a:rPr lang="en-US" sz="13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 </a:t>
            </a:r>
            <a:r>
              <a:rPr lang="en-US" sz="13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pueda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realcionarse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2: Encaje del 100% a la custodia de los PSP (enero 2022)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se venía: los PSP deben mantener el 100% de los fondos no invertidos de sus clientes depositados a la vista en bancos (Com. “A” 6859, 2020)</a:t>
            </a:r>
            <a:endParaRPr lang="en-US" sz="1300" dirty="0"/>
          </a:p>
          <a:p>
            <a:pPr marL="685800" lvl="1" indent="-342900" algn="l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Esos depósitos tenían el encaje normal de una cuenta vista (</a:t>
            </a:r>
            <a:r>
              <a:rPr lang="en-US" sz="13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parte integrable con LELIQ)</a:t>
            </a:r>
          </a:p>
          <a:p>
            <a:pPr marL="685800" lvl="1" indent="-342900" algn="l">
              <a:spcAft>
                <a:spcPts val="300"/>
              </a:spcAft>
              <a:buSzPct val="100000"/>
              <a:buChar char="–"/>
            </a:pP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cambió: Com. “A” 7429 (30-dic-2021, vigente 1-ene-2022), encaje del 100% sobre esos depósitos</a:t>
            </a:r>
            <a:endParaRPr lang="en-US" sz="1300" dirty="0"/>
          </a:p>
          <a:p>
            <a:pPr marL="685800" lvl="1" indent="-342900" algn="l">
              <a:spcAft>
                <a:spcPts val="300"/>
              </a:spcAft>
              <a:buSzPct val="100000"/>
              <a:buChar char="–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2022 (Com. “A” 7611): se habilita integrar hasta 45% con un bono del Tesoro 2027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implicó: el rendimiento del usuario no cambió (la opción FCI existía desde 2018); murió el negocio de custodia del PSP → empuje comercial masivo a “activar rendimientos”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afectó: PSP,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custodios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FCIs money market (receptores del stock)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3: </a:t>
            </a:r>
            <a:r>
              <a:rPr lang="en-US" sz="2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Encajes</a:t>
            </a: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los FCI money market (2024-2025)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se venía: los depósitos a la vista remunerados de los FCI money market tenían encaje 0%, contra 36-45% de un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probablemente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generaba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arbitraje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regulatorio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cambió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  <a:p>
            <a:pPr marL="685800" lvl="1" indent="-342900" algn="l">
              <a:spcAft>
                <a:spcPts val="300"/>
              </a:spcAft>
              <a:buSzPct val="100000"/>
              <a:buChar char="–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15-abr-2024 (Com. “A” 7988): 0% → 10%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encaje</a:t>
            </a:r>
            <a:endParaRPr lang="en-US" sz="1200" dirty="0"/>
          </a:p>
          <a:p>
            <a:pPr marL="685800" lvl="1" indent="-342900" algn="l">
              <a:spcAft>
                <a:spcPts val="300"/>
              </a:spcAft>
              <a:buSzPct val="100000"/>
              <a:buChar char="–"/>
            </a:pP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Mediados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2024: → 15%   ;   1-nov-2024 (Com. “A” 8119): → 20%</a:t>
            </a:r>
            <a:endParaRPr lang="en-US" sz="1200" dirty="0"/>
          </a:p>
          <a:p>
            <a:pPr marL="685800" lvl="1" indent="-342900" algn="l">
              <a:spcAft>
                <a:spcPts val="300"/>
              </a:spcAft>
              <a:buSzPct val="100000"/>
              <a:buChar char="–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2025 (Com. “A” 8281 y refuerzo): → 30% → 40% en dos semanas, más exigencia de integración diaria</a:t>
            </a:r>
            <a:endParaRPr lang="en-US" sz="1200" dirty="0"/>
          </a:p>
          <a:p>
            <a:pPr marL="685800" lvl="1" indent="-342900" algn="l">
              <a:spcAft>
                <a:spcPts val="300"/>
              </a:spcAft>
              <a:buSzPct val="100000"/>
              <a:buChar char="–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Vigente: 40% (Texto Ordenado de Efectivo Mínimo, secc. 1.3.12); baja general de encajes desde abril 2026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implicó: cae la tasa que el banco puede pagarle al FCI → cae el rendimiento de la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billetera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baja el atractivo de dejar saldos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afectó: usuarios (rendimiento); FCIs money market; PSP;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B2CF26-1932-EC6A-BFFA-A57E7CA99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99" y="599063"/>
            <a:ext cx="8360564" cy="367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55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1C2350-8110-37CC-BE6E-4E5D6943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30" y="483476"/>
            <a:ext cx="8703939" cy="382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04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7FBCAB-0DDC-7D67-3082-5D0544A7C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58" y="780314"/>
            <a:ext cx="8142890" cy="358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65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ABEC9-F869-3DA5-76F8-87F07411B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70" y="690385"/>
            <a:ext cx="8551659" cy="376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62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F53ECF-B617-BA9F-C0AD-F8729A8AB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388" y="61232"/>
            <a:ext cx="2997223" cy="502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564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1176</Words>
  <Application>Microsoft Macintosh PowerPoint</Application>
  <PresentationFormat>On-screen Show (16:9)</PresentationFormat>
  <Paragraphs>84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Sofía Attadía</cp:lastModifiedBy>
  <cp:revision>11</cp:revision>
  <dcterms:created xsi:type="dcterms:W3CDTF">2026-07-30T19:52:54Z</dcterms:created>
  <dcterms:modified xsi:type="dcterms:W3CDTF">2026-07-31T14:16:10Z</dcterms:modified>
</cp:coreProperties>
</file>