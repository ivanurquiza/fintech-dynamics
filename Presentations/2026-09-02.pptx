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99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concurrentes con la vigencia plena del QR interoperable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 “A” 7400, vigente el 29 de noviembre de 2021. Medidas dentro de los 40 días posteriores, y el ciclo de tasas que sigue.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10360"/>
              </p:ext>
            </p:extLst>
          </p:nvPr>
        </p:nvGraphicFramePr>
        <p:xfrm>
          <a:off x="457200" y="1097280"/>
          <a:ext cx="8229600" cy="1170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cambia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1-ene-2022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Com. “A” 7429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Efectivo mínimo del 100% sobre las cuentas de los PSPCP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6-ene-2022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 de tasa de política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Leliq de 38% a 40%; piso de plazo fijo minorista en 39%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 a sep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Sucesivas subas de tasa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Leliq llega a 75% y el piso de plazo fijo minorista pasa de 39% a 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587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relevantes para el caso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primeras medidas caen dentro de los 40 días desde la norma de pagos.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tasas opera sobre el mismo resultado que el diseño mide, la composición del pasivo, durante toda la ventana posterior.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fijo es el instrumento más sensible a la tasa, y es donde se concentra la reacción que observamos en las series.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concurrentes con la vigencia de las transferencias pull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 “A” 7514, vigente el 30 de septiembre de 2022. Medidas del mes previo.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4142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cambia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5-sep-2022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576/2022, “dólar soja” (desdoblamiento)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Ingresan USD 8.123 millones al BCRA durante septiembre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15-sep-2022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 de tasa de política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Leliq de 69,5% a 75%; piso de plazo fijo minorista en 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22-sep-2022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Com. “A” 7611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p.p. del efectivo mínimo sobre cuentas de PSPCP pasan a integrarse con BONTE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670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relevantes para el caso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62656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dólar soja es un shock de depósitos concentrado en provincias agrícolas. Nuestra exposición se construye con la composición provincial de los depósitos de cada banco, de modo que confounder y tratamiento están correlacionados por construcción.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Com. “A” 7611 revierte parcialmente la Com. “A” 7429 sobre el mismo objeto, ocho días antes de la norma de pagos. El signo esperado para el período queda ambiguo.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ninguna de las dos ventanas la norma de pagos opera sola: el tratamiento no es separable de las medidas de fondeo y de tasas concurrentes.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Deudores del BCRA: microdato de crédito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deudor por deudor y acreedor por acreedor, descargado en julio de 2026. Panel mensual de agosto de 2024 a julio de 2026.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28216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 humanas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en el panel de 24 meses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24.525.754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394.052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en el corte de julio de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20.667.372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285.419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en situación irregular (3 a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5.559.492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deudores en mora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registrada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$94,9 billones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$87,5 billones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Proporción del saldo en situación irregular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44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relevantes para el caso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18688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Informan 547 acreedores: bancos públicos y privados, compañías financieras, billeteras, financieras de crédito rápido, tarjetas de retail y de supermercado, mutuales, fideicomisos y sociedades de garantía recíproca.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deuda se reparte casi por mitades entre hogares y firmas, pero la mora no. Los hogares duplican la tasa de deudores irregulares y triplican la proporción del saldo en mora.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3,86 millones de personas y 108 mil empresas pasaron por el sistema durante la ventana y ya no figuran en julio de 2026. La salida del registro es observable.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observa de cada deudor, y en qué frecuencia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es deudor por acreedor por mes. Situación: 1 normal, 2 riesgo bajo, 3 medio, 4 alto, 5 irrecuperable, 11 con garantía preferida A.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656207"/>
              </p:ext>
            </p:extLst>
          </p:nvPr>
        </p:nvGraphicFramePr>
        <p:xfrm>
          <a:off x="457200" y="1097280"/>
          <a:ext cx="8229600" cy="189738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 24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 de julio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 del deudor, escala 1 a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adeudado con cada acreedor, en pesos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judicial o información sometida a revisión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de atraso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Refinanciación de la deuda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Previsiones constituidas por la entidad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económica declarada del deudor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35295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relevantes para el caso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9391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deudor aparece simultáneamente con varios acreedores, lo que habilita efectos fijos de deudor </a:t>
            </a:r>
            <a:r>
              <a:rPr lang="en-US" sz="1050" dirty="0" err="1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 err="1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monto son las únicas variables con serie temporal. Días de atraso y refinanciación se observan en un corte, de modo que sirven para caracterizar y no como resultado dinámico.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informa tasa, plazo, monto original ni destino del crédito: el precio del crédito queda fuera del alcance de esta fuente.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del deudor y advertencias de medición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padrón de ARCA llega por el mismo canal de descarga y se une por CUIT. Cobertura verificada: 99,9 % de los deudores personas humanas.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auxiliar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Padrón de ARCA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65.386.335 registros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o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nacimiento, sexo, código postal, provincia, actividad declarada, fecha de fallecimiento y CUIT de reemplazo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 en situación 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14.675.514 registros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desde el cual el deudor registra situación 1 ininterrumpida en todas sus entidades, con fechas de origen desde 1999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Rectificativas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1.727.160 registros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× período × deudor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Correcciones aplicadas al registro entre 2001 y 2026. El 82 % son eliminaciones de registros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Maestro de entidades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577 registros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Código, denominación y clase regulatoria derivada del rango del código de entidad del BCRA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004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relevantes para el caso</a:t>
            </a:r>
            <a:endParaRPr lang="en-US" sz="1200" dirty="0"/>
          </a:p>
        </p:txBody>
      </p:sp>
      <p:sp>
        <p:nvSpPr>
          <p:cNvPr id="4" name="Text 3"/>
          <p:cNvSpPr txBox="1"/>
          <p:nvPr/>
        </p:nvSpPr>
        <p:spPr>
          <a:xfrm>
            <a:off x="457200" y="3493008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deudas menores a $25.000 se informan agregadas y sin identificar al deudor. El umbral es nominal y no se actualiza, de modo que la inflación incorpora deudores al registro sin que su situación cambie.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excluye a quienes ejercieron los derechos de rectificación o supresión previstos en la Ley 25.326, una selección correlacionada con tener un registro adverso.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 24 meses conserva a los deudores de entidades dadas de baja únicamente si están en situación normal, lo que subestima el nivel de mora de los meses pasados.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acceso: la red física, a nivel localidad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BCRA, Informe de Inclusión Financiera. Mensual de enero de 2019 a diciembre de 2025: 1.967 localidades, 524 departamentos, 80 entidades.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construida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observación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pda_depto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 ×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pda_provincia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Provincia ×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pda_localidad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Localidad × tipo ×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368.939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pda_lender_depto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× departamento × tipo ×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14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594.214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relevantes para el caso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98648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tipos de punto: sucursales, sucursales móviles, cajeros automáticos, terminales de autoservicio y agencias complementarias. Los cuatro primeros reconcilian con diferencia cero contra el archivo por provincia que publica el BCRA.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agencias complementarias atienden a varios bancos a la vez, hasta ocho en una misma localidad, de modo que la suma sobre entidades mide vínculos y no puntos físicos. La columna se llama acsf_vinculos y se publica además el total que las excluye.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une a la Central de Deudores por provincia: el padrón de ARCA trae el código provincial del deudor y un crosswalk propio lo lleva al código del INDEC. Las 24 verificadas.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1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el cruce a departamento requiere una tabla que lleve el código postal del padrón al código de departamento del INDEC. No existe publicada de forma abierta; es la pieza que falta para el diseño geográfico fino.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libri"/>
              </a:rPr>
              <a:t>De la exposición provincial al deudor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7080"/>
                </a:solidFill>
                <a:latin typeface="Calibri"/>
              </a:rPr>
              <a:t>Las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tres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restricciones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del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diseño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anterior y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qué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reemplaza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651861"/>
              </p:ext>
            </p:extLst>
          </p:nvPr>
        </p:nvGraphicFramePr>
        <p:xfrm>
          <a:off x="457200" y="1097280"/>
          <a:ext cx="8229599" cy="14584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Restricción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Qué la reemplaza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El shock no es separable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Cada norma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pagos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llega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con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medidas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fondeo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y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tasas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en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la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misma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ventana</a:t>
                      </a:r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La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identificación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deja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depender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una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fecha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: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pasa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a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estar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dentro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del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deudor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el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mismo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CUIT con dos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acreedores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el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mismo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mes</a:t>
                      </a:r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La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inferencia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se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apoya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en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24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grupos</a:t>
                      </a:r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El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tratamiento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varía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a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nivel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provincia</a:t>
                      </a:r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50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bancos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por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trimestre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y 20,7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millones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deudores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cada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uno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seguido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mes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a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mes</a:t>
                      </a:r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28415"/>
            <a:ext cx="8229600" cy="643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200" dirty="0">
                <a:solidFill>
                  <a:srgbClr val="414B54"/>
                </a:solidFill>
                <a:latin typeface="Calibri"/>
              </a:rPr>
              <a:t>El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registro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cubre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bancos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y no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bancos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con la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misma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definición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situación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, de modo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mismo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deudor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se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sigue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los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dos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sistemas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con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una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sola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métrica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200" dirty="0" err="1">
                <a:solidFill>
                  <a:srgbClr val="414B54"/>
                </a:solidFill>
                <a:latin typeface="Calibri"/>
              </a:rPr>
              <a:t>Ninguno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los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dos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diseños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siguen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necesita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una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fecha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norma para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identificar</a:t>
            </a:r>
            <a:r>
              <a:rPr sz="1200" dirty="0">
                <a:solidFill>
                  <a:srgbClr val="414B5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libri"/>
              </a:rPr>
              <a:t>Distribución de acreedores por deudor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7080"/>
                </a:solidFill>
                <a:latin typeface="Calibri"/>
              </a:rPr>
              <a:t>Define la muestra de estimación de cualquier diseño dentro del deudor. Universo completo.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796063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Personas 2024m8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Personas 2026m7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Empresas 2024m8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Empresas 2026m7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Deudores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17.326.062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20.667.374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225.712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285.419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Acreedores por deudor, media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1,70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1,88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1,65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1,71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Un solo acreedor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58,3%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50,5%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67,4%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65,2%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Dos o más acreedores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41,7%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49,5%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32,6%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34,8%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Dos o más bancos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16,1%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18,0%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27,9%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30,0%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Banco y no banco a la vez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26,3%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34,2%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11,5%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12,4%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Con acreedor tipo billetera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23,7%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39,1%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3,4%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7588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86783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200" dirty="0">
                <a:solidFill>
                  <a:srgbClr val="414B54"/>
                </a:solidFill>
                <a:latin typeface="Calibri"/>
              </a:rPr>
              <a:t>En personas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margen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no es banco contra banco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sino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banco contra no banco,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pasa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26,3% a 34,2%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dos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años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libri"/>
              </a:rPr>
              <a:t>Quién le presta a las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667080"/>
                </a:solidFill>
                <a:latin typeface="Calibri"/>
              </a:rPr>
              <a:t>Relaciones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julio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de 2026,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tipo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acreedor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. </a:t>
            </a:r>
            <a:r>
              <a:rPr sz="1100" b="0" i="0" dirty="0" err="1">
                <a:solidFill>
                  <a:srgbClr val="667080"/>
                </a:solidFill>
                <a:latin typeface="Calibri"/>
              </a:rPr>
              <a:t>Situación</a:t>
            </a:r>
            <a:r>
              <a:rPr sz="1100" b="0" i="0" dirty="0">
                <a:solidFill>
                  <a:srgbClr val="667080"/>
                </a:solidFill>
                <a:latin typeface="Calibri"/>
              </a:rPr>
              <a:t> 3 a 5 es mora.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Tipo de acreedor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Relaciones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Mora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Deuda en mora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Saldo mediano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Banco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19.610.670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16,2%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12,5%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$1.062.000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No bancario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16.032.184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27,8%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30,4%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$348.000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Compañía financiera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1.926.400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39,3%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22,6%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$182.000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Fideicomiso financiero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897.267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77,0%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19,3%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$258.000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Mutual o cooperativa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353.271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25,0%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15,8%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$502.000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28415"/>
            <a:ext cx="8229600" cy="1287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200" dirty="0">
                <a:solidFill>
                  <a:srgbClr val="414B54"/>
                </a:solidFill>
                <a:latin typeface="Calibri"/>
              </a:rPr>
              <a:t>El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crédito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bancario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son 16,0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millones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relaciones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contra 19,6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millones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bancarias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, con un </a:t>
            </a:r>
            <a:r>
              <a:rPr lang="es-419" sz="1200" dirty="0">
                <a:solidFill>
                  <a:srgbClr val="414B54"/>
                </a:solidFill>
                <a:latin typeface="Calibri"/>
              </a:rPr>
              <a:t>saldo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mediano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un tercio del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bancario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y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una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mora del doble.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200" dirty="0" err="1">
                <a:solidFill>
                  <a:srgbClr val="414B54"/>
                </a:solidFill>
                <a:latin typeface="Calibri"/>
              </a:rPr>
              <a:t>MercadoLibre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tiene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6,7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millones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deudores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más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Banco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Nación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, y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concentra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21,0% de las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relaciones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crédito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a personas del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país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200" dirty="0">
                <a:solidFill>
                  <a:srgbClr val="414B54"/>
                </a:solidFill>
                <a:latin typeface="Calibri"/>
              </a:rPr>
              <a:t>Los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fideicomisos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financieros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originan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crédito</a:t>
            </a:r>
            <a:r>
              <a:rPr sz="1200" dirty="0">
                <a:solidFill>
                  <a:srgbClr val="414B54"/>
                </a:solidFill>
                <a:latin typeface="Calibri"/>
              </a:rPr>
              <a:t>: son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vehículos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reciben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cartera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ya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deteriorada</a:t>
            </a:r>
            <a:r>
              <a:rPr sz="1200" dirty="0">
                <a:solidFill>
                  <a:srgbClr val="414B54"/>
                </a:solidFill>
                <a:latin typeface="Calibri"/>
              </a:rPr>
              <a:t>. Se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excluyen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del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análisis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y </a:t>
            </a:r>
            <a:r>
              <a:rPr sz="1200" dirty="0" err="1">
                <a:solidFill>
                  <a:srgbClr val="414B54"/>
                </a:solidFill>
                <a:latin typeface="Calibri"/>
              </a:rPr>
              <a:t>sirven</a:t>
            </a:r>
            <a:r>
              <a:rPr sz="1200" dirty="0">
                <a:solidFill>
                  <a:srgbClr val="414B54"/>
                </a:solidFill>
                <a:latin typeface="Calibri"/>
              </a:rPr>
              <a:t> de placebo.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libri"/>
              </a:rPr>
              <a:t>Dónde queda la variación geográfica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7080"/>
                </a:solidFill>
                <a:latin typeface="Calibri"/>
              </a:rPr>
              <a:t>El mercado local es el código postal del deudor, que viene del padrón de ARCA. Julio de 2026.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67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Personas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Empresas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Mercados locales (código postal)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3.375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2.043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Acreedores por mercado, media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63,7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16,2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Bancos por mercado, mediana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Deudores por mercado, mediana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725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Mercados con cinco o más bancos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2.580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1.550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Deudores en esos mercados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99,4%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Mercados por acreedor, mediana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418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204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31336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200">
                <a:solidFill>
                  <a:srgbClr val="414B54"/>
                </a:solidFill>
                <a:latin typeface="Calibri"/>
              </a:rPr>
              <a:t>El shock de oferta bancaria se estima por banco y trimestre sobre estos mercados: 50 bancos, 6 trimestres, 294 estimaciones, con desvío entre bancos de 0,162 y un rango de 0,113 a 0,204 por trimestre.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200">
                <a:solidFill>
                  <a:srgbClr val="414B54"/>
                </a:solidFill>
                <a:latin typeface="Calibri"/>
              </a:rPr>
              <a:t>El gradiente ya aparece en crudo. Entre provincias, la correlación entre deudores por sucursal y participación no bancaria es 0,44, y con la tasa de mora 0,65. CABA tiene 2.959 deudores por sucursal, 31,9% de relaciones no bancarias y 15,4% de mora; Catamarca 9.490, 60,1% y 28,9%.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libri"/>
              </a:rPr>
              <a:t>Las dos preguntas que habilita el registro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7080"/>
                </a:solidFill>
                <a:latin typeface="Calibri"/>
              </a:rPr>
              <a:t>Ninguna depende de una fecha de norma. La identificación viene de la estructura del dato.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Mecanismo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Cómo se identifica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¿El crédito no bancario amortigua los shocks de oferta bancaria?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Si el banco corta y el deudor reemplaza con un no bancario, el canal de crédito bancario deja de transmitirse a los hogares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Shock de oferta por banco y trimestre. Primera etapa dentro del deudor con dos acreedores. Después, crédito total y mora posterior del mismo deudor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¿Los prestamistas sin sucursal amplían el crédito o reasignan deudores?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3"/>
                          </a:solidFill>
                          <a:latin typeface="Calibri"/>
                        </a:rPr>
                        <a:t>Prestar sin conocer al deudor exige información dura en lugar de blanda, y eso permite llegar donde no hay red física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Entrada al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registro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por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primera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vez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por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tipo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acreedor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y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por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mercado local,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cruzada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con la red de puntos de </a:t>
                      </a:r>
                      <a:r>
                        <a:rPr sz="105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acceso</a:t>
                      </a:r>
                      <a:r>
                        <a:rPr sz="1050" b="0" dirty="0">
                          <a:solidFill>
                            <a:srgbClr val="1F2933"/>
                          </a:solidFill>
                          <a:latin typeface="Calibri"/>
                        </a:rPr>
                        <a:t> previa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632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74136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200">
                <a:solidFill>
                  <a:srgbClr val="414B54"/>
                </a:solidFill>
                <a:latin typeface="Calibri"/>
              </a:rPr>
              <a:t>El 50,1% de los deudores que entran por primera vez al registro lo hace por un acreedor no bancario y el 36,6% por un banco. En empresas es al revés: el 90,0% entra por un banco.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200">
                <a:solidFill>
                  <a:srgbClr val="414B54"/>
                </a:solidFill>
                <a:latin typeface="Calibri"/>
              </a:rPr>
              <a:t>La primera pregunta corre con lo que ya está construido. Para la segunda falta un crosswalk de código postal a departamento, porque los puntos de acceso vienen por departamento y el padrón da código postal.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1F2933"/>
                </a:solidFill>
                <a:latin typeface="Calibri"/>
              </a:rPr>
              <a:t>Primer approach: ¿el crédito no bancario amortigua el shock bancario?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7080"/>
                </a:solidFill>
                <a:latin typeface="Calibri"/>
              </a:rPr>
              <a:t>Tres pasos. El shock se estima, la primera etapa se identifica dentro del deudor, y el reemplazo se mide a nivel deudor.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21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Especificación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Qué identifica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1. Shock de oferta del banco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Δlog Crédito(b,m,t) = α(m,t) + γ(b,t) + 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El efecto fijo de mercado por trimestre absorbe la demanda local. γ(b,t) es el crecimiento idiosincrático del banco, común a todos sus mercados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2. Primera etapa, dentro del deudor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Δlog L(i,b,t) = α(i,t) + β·γ(b,t) + 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Deudores con dos o más acreedores. El efecto fijo deudor por mes absorbe la demanda de la persona: β es el traspaso del corte al crédito de ese banco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3. Reemplazo, a nivel deudor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Y(i,t) = a(i) + d(t) + θ·Z(i,t) + ε,   Z(i,t) = Σ s(i,b,t−1)·γ(b,t)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Y es el crédito total, el crédito no bancario y la situación a seis y doce meses. θ da la tasa de reemplazo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272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38144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150" dirty="0">
                <a:solidFill>
                  <a:srgbClr val="414B54"/>
                </a:solidFill>
                <a:latin typeface="Calibri"/>
              </a:rPr>
              <a:t>El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objeto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interés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es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tasa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reemplazo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: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cuántos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pesos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crédito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no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bancario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aparecen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por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cada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peso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banco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quita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, para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mismo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deudor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. Si es uno,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canal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crédito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bancario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dejó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transmitirse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los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hogares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;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si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es cero,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sigue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intacto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150" dirty="0" err="1">
                <a:solidFill>
                  <a:srgbClr val="414B54"/>
                </a:solidFill>
                <a:latin typeface="Calibri"/>
              </a:rPr>
              <a:t>Validación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obligatoria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del paso 1: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correlacionar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γ</a:t>
            </a:r>
            <a:r>
              <a:rPr sz="1150" dirty="0">
                <a:solidFill>
                  <a:srgbClr val="414B54"/>
                </a:solidFill>
                <a:latin typeface="Calibri"/>
              </a:rPr>
              <a:t>(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b,t</a:t>
            </a:r>
            <a:r>
              <a:rPr sz="1150" dirty="0">
                <a:solidFill>
                  <a:srgbClr val="414B54"/>
                </a:solidFill>
                <a:latin typeface="Calibri"/>
              </a:rPr>
              <a:t>) con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balance del banco,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que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tenemos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mensual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desde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2018. Si no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correlaciona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con nada, no es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oferta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67080"/>
                </a:solidFill>
                <a:latin typeface="Calibri"/>
              </a:rPr>
              <a:t>Khwaja y Mian (AER 2008) para el paso 2. Greenstone, Mas y Nguyen (AEJ Economic Policy 2020) y Gutierrez, Jaume y Tobal (AEJ Economic Policy 2023) para el paso 1 y su validación. Buchak, Matvos, Piskorski y Seru (JFE 2018) e Irani, Iyer, Meisenzahl y Peydró (RFS 2021) para las hipótesis rivales del paso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1F2933"/>
                </a:solidFill>
                <a:latin typeface="Calibri"/>
              </a:rPr>
              <a:t>Primer approach: ¿los prestamistas sin sucursal amplían el crédito?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7080"/>
                </a:solidFill>
                <a:latin typeface="Calibri"/>
              </a:rPr>
              <a:t>El mercado local es el código postal. La red física previa viene del panel de puntos de acceso, mensual desde 2019.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986014"/>
              </p:ext>
            </p:extLst>
          </p:nvPr>
        </p:nvGraphicFramePr>
        <p:xfrm>
          <a:off x="457200" y="1097280"/>
          <a:ext cx="8229600" cy="1469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Especificación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Qué identifica</a:t>
                      </a:r>
                    </a:p>
                  </a:txBody>
                  <a:tcPr marL="64008" marR="64008" marT="18288" marB="18288" anchor="ctr">
                    <a:solidFill>
                      <a:srgbClr val="2E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1. Exposición del mercado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SinRed(m) a partir de sucursales y cajeros por mercado antes de la entrada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Separa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mercados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donde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la banca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tenía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presencia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física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aquellos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donde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no la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tenía</a:t>
                      </a:r>
                      <a:endParaRPr sz="100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2. Margen extensivo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Entrantes(m,t) = α(m) + δ(t) + β·[Llegada(m,t) × SinRed(m)] + 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β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mide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si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la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llegada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de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acreedores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sin red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física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trae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deudores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que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nunca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habían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tenido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crédito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, y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si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eso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ocurre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donde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no </a:t>
                      </a:r>
                      <a:r>
                        <a:rPr sz="1000" b="0" dirty="0" err="1">
                          <a:solidFill>
                            <a:srgbClr val="1F2933"/>
                          </a:solidFill>
                          <a:latin typeface="Calibri"/>
                        </a:rPr>
                        <a:t>había</a:t>
                      </a:r>
                      <a:r>
                        <a:rPr sz="1000" b="0" dirty="0">
                          <a:solidFill>
                            <a:srgbClr val="1F2933"/>
                          </a:solidFill>
                          <a:latin typeface="Calibri"/>
                        </a:rPr>
                        <a:t> banco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3. Calidad del deudor nuevo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3"/>
                          </a:solidFill>
                          <a:latin typeface="Calibri"/>
                        </a:rPr>
                        <a:t>Mora(i,t+k) según canal de entrada y red previa del mercado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b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272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Puntos relevantes para 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38144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700"/>
              </a:spcAft>
              <a:buChar char="•"/>
            </a:pPr>
            <a:r>
              <a:rPr sz="1150" dirty="0">
                <a:solidFill>
                  <a:srgbClr val="414B54"/>
                </a:solidFill>
                <a:latin typeface="Calibri"/>
              </a:rPr>
              <a:t>Las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tres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teorías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predicen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signos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distintos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sobre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β y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por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eso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dato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arbitra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.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información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dura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sustituye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a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blanda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y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expande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donde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no hay red;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dispersión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información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entre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más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prestamistas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empeora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screening sin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expandir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; y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pérdida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rentas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relación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contrae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crédito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al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deudor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opaco</a:t>
            </a:r>
            <a:r>
              <a:rPr sz="1150" dirty="0">
                <a:solidFill>
                  <a:srgbClr val="414B54"/>
                </a:solidFill>
                <a:latin typeface="Calibri"/>
              </a:rPr>
              <a:t>.</a:t>
            </a:r>
          </a:p>
          <a:p>
            <a:pPr marL="171450" indent="-171450">
              <a:spcAft>
                <a:spcPts val="700"/>
              </a:spcAft>
              <a:buChar char="•"/>
            </a:pPr>
            <a:r>
              <a:rPr sz="1150" dirty="0">
                <a:solidFill>
                  <a:srgbClr val="414B54"/>
                </a:solidFill>
                <a:latin typeface="Calibri"/>
              </a:rPr>
              <a:t>En crudo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gradiente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ya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está</a:t>
            </a:r>
            <a:r>
              <a:rPr sz="1150" dirty="0">
                <a:solidFill>
                  <a:srgbClr val="414B54"/>
                </a:solidFill>
                <a:latin typeface="Calibri"/>
              </a:rPr>
              <a:t>: entre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provincias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,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correlación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entre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deudores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por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sucursal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y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participación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no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bancaria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es 0,44, y con la </a:t>
            </a:r>
            <a:r>
              <a:rPr sz="1150" dirty="0" err="1">
                <a:solidFill>
                  <a:srgbClr val="414B54"/>
                </a:solidFill>
                <a:latin typeface="Calibri"/>
              </a:rPr>
              <a:t>tasa</a:t>
            </a:r>
            <a:r>
              <a:rPr sz="1150" dirty="0">
                <a:solidFill>
                  <a:srgbClr val="414B54"/>
                </a:solidFill>
                <a:latin typeface="Calibri"/>
              </a:rPr>
              <a:t> de mora 0,65.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2819</Words>
  <Application>Microsoft Macintosh PowerPoint</Application>
  <PresentationFormat>On-screen Show (16:9)</PresentationFormat>
  <Paragraphs>314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Sofía Attadía</cp:lastModifiedBy>
  <cp:revision>4</cp:revision>
  <dcterms:created xsi:type="dcterms:W3CDTF">2026-09-02T21:52:48Z</dcterms:created>
  <dcterms:modified xsi:type="dcterms:W3CDTF">2026-09-02T22:55:59Z</dcterms:modified>
</cp:coreProperties>
</file>