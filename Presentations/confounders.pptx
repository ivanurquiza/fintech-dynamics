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292608"/>
            <a:ext cx="8229600" cy="384048"/>
          </a:xfrm>
          <a:prstGeom prst="rect">
            <a:avLst/>
          </a:prstGeom>
          <a:noFill/>
          <a:ln/>
        </p:spPr>
        <p:txBody>
          <a:bodyPr wrap="square" lIns="0" tIns="0" rIns="0" bIns="0" rtlCol="0" anchor="ctr"/>
          <a:lstStyle/>
          <a:p>
            <a:pPr indent="0" marL="0">
              <a:buNone/>
            </a:pPr>
            <a:r>
              <a:rPr lang="en-US" sz="2200" b="1" dirty="0">
                <a:solidFill>
                  <a:srgbClr val="1F2933"/>
                </a:solidFill>
                <a:latin typeface="Calibri" pitchFamily="34" charset="0"/>
                <a:ea typeface="Calibri" pitchFamily="34" charset="-122"/>
                <a:cs typeface="Calibri" pitchFamily="34" charset="-120"/>
              </a:rPr>
              <a:t>Medidas concurrentes con la vigencia plena del QR interoperable</a:t>
            </a:r>
            <a:endParaRPr lang="en-US" sz="2200" dirty="0"/>
          </a:p>
        </p:txBody>
      </p:sp>
      <p:sp>
        <p:nvSpPr>
          <p:cNvPr id="3" name="Text 1"/>
          <p:cNvSpPr txBox="1"/>
          <p:nvPr/>
        </p:nvSpPr>
        <p:spPr>
          <a:xfrm>
            <a:off x="457200" y="704088"/>
            <a:ext cx="8229600" cy="274320"/>
          </a:xfrm>
          <a:prstGeom prst="rect">
            <a:avLst/>
          </a:prstGeom>
          <a:noFill/>
          <a:ln/>
        </p:spPr>
        <p:txBody>
          <a:bodyPr wrap="square" lIns="0" tIns="0" rIns="0" bIns="0" rtlCol="0" anchor="ctr"/>
          <a:lstStyle/>
          <a:p>
            <a:pPr indent="0" marL="0">
              <a:buNone/>
            </a:pPr>
            <a:r>
              <a:rPr lang="en-US" sz="1200" dirty="0">
                <a:solidFill>
                  <a:srgbClr val="667080"/>
                </a:solidFill>
                <a:latin typeface="Calibri" pitchFamily="34" charset="0"/>
                <a:ea typeface="Calibri" pitchFamily="34" charset="-122"/>
                <a:cs typeface="Calibri" pitchFamily="34" charset="-120"/>
              </a:rPr>
              <a:t>Com. “A” 7400, vigente el 29 de noviembre de 2021. Medidas dentro de los 40 días posteriores, y el ciclo de tasas que sigue.</a:t>
            </a:r>
            <a:endParaRPr lang="en-US" sz="1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188720"/>
                <a:gridCol w="1965960"/>
                <a:gridCol w="507492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Fecha</a:t>
                      </a:r>
                      <a:endParaRPr lang="en-US" sz="11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Medida</a:t>
                      </a:r>
                      <a:endParaRPr lang="en-US" sz="11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Qué cambia</a:t>
                      </a:r>
                      <a:endParaRPr lang="en-US" sz="11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r>
              <a:tr h="292608">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16-dic-2021</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Nota del BCRA a ABA y ADEBA</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Exige eliminar topes y demoras en las transferencias de CBU a CVU</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r h="292608">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1-ene-2022</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Com. “A” 7429</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Efectivo mínimo del 100% sobre las cuentas de los PSPCP</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r h="292608">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6-ene-2022</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Suba de tasa de política</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Leliq de 38% a 40%; piso de plazo fijo minorista en 39%</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r h="292608">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ene a sep 2022</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Sucesivas subas de tasa</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La Leliq llega a 75% y el piso de plazo fijo minorista pasa de 39% a 75%</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bl>
          </a:graphicData>
        </a:graphic>
      </p:graphicFrame>
      <p:sp>
        <p:nvSpPr>
          <p:cNvPr id="5" name="Text 2"/>
          <p:cNvSpPr txBox="1"/>
          <p:nvPr/>
        </p:nvSpPr>
        <p:spPr>
          <a:xfrm>
            <a:off x="457200" y="3063240"/>
            <a:ext cx="8229600" cy="237744"/>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Puntos relevantes para el caso</a:t>
            </a:r>
            <a:endParaRPr lang="en-US" sz="1300" dirty="0"/>
          </a:p>
        </p:txBody>
      </p:sp>
      <p:sp>
        <p:nvSpPr>
          <p:cNvPr id="6" name="Text 3"/>
          <p:cNvSpPr txBox="1"/>
          <p:nvPr/>
        </p:nvSpPr>
        <p:spPr>
          <a:xfrm>
            <a:off x="457200" y="3374136"/>
            <a:ext cx="8229600" cy="141732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414B54"/>
                </a:solidFill>
                <a:latin typeface="Calibri" pitchFamily="34" charset="0"/>
                <a:ea typeface="Calibri" pitchFamily="34" charset="-122"/>
                <a:cs typeface="Calibri" pitchFamily="34" charset="-120"/>
              </a:rPr>
              <a:t>Las tres primeras medidas caen dentro de los 40 días de la norma de pagos.</a:t>
            </a:r>
            <a:endParaRPr lang="en-US" sz="1200" dirty="0"/>
          </a:p>
          <a:p>
            <a:pPr marL="177800" indent="-177800">
              <a:spcAft>
                <a:spcPts val="700"/>
              </a:spcAft>
              <a:buSzPct val="100000"/>
              <a:buChar char="•"/>
            </a:pPr>
            <a:r>
              <a:rPr lang="en-US" sz="1200" dirty="0">
                <a:solidFill>
                  <a:srgbClr val="414B54"/>
                </a:solidFill>
                <a:latin typeface="Calibri" pitchFamily="34" charset="0"/>
                <a:ea typeface="Calibri" pitchFamily="34" charset="-122"/>
                <a:cs typeface="Calibri" pitchFamily="34" charset="-120"/>
              </a:rPr>
              <a:t>El ciclo de tasas opera sobre el mismo resultado que el diseño mide, la composición del pasivo, durante toda la ventana posterior.</a:t>
            </a:r>
            <a:endParaRPr lang="en-US" sz="1200" dirty="0"/>
          </a:p>
          <a:p>
            <a:pPr marL="177800" indent="-177800">
              <a:spcAft>
                <a:spcPts val="700"/>
              </a:spcAft>
              <a:buSzPct val="100000"/>
              <a:buChar char="•"/>
            </a:pPr>
            <a:r>
              <a:rPr lang="en-US" sz="1200" dirty="0">
                <a:solidFill>
                  <a:srgbClr val="414B54"/>
                </a:solidFill>
                <a:latin typeface="Calibri" pitchFamily="34" charset="0"/>
                <a:ea typeface="Calibri" pitchFamily="34" charset="-122"/>
                <a:cs typeface="Calibri" pitchFamily="34" charset="-120"/>
              </a:rPr>
              <a:t>El plazo fijo es el instrumento más sensible a la tasa, y es donde se concentra la reacción que observamos en las series.</a:t>
            </a:r>
            <a:endParaRPr lang="en-US" sz="1200" dirty="0"/>
          </a:p>
        </p:txBody>
      </p:sp>
      <p:sp>
        <p:nvSpPr>
          <p:cNvPr id="7" name="Text 4"/>
          <p:cNvSpPr txBox="1"/>
          <p:nvPr/>
        </p:nvSpPr>
        <p:spPr>
          <a:xfrm>
            <a:off x="457200" y="4645152"/>
            <a:ext cx="8229600" cy="219456"/>
          </a:xfrm>
          <a:prstGeom prst="rect">
            <a:avLst/>
          </a:prstGeom>
          <a:noFill/>
          <a:ln/>
        </p:spPr>
        <p:txBody>
          <a:bodyPr wrap="square" lIns="0" tIns="0" rIns="0" bIns="0" rtlCol="0" anchor="ctr"/>
          <a:lstStyle/>
          <a:p>
            <a:pPr indent="0" marL="0">
              <a:buNone/>
            </a:pPr>
            <a:r>
              <a:rPr lang="en-US" sz="950" i="1" dirty="0">
                <a:solidFill>
                  <a:srgbClr val="667080"/>
                </a:solidFill>
                <a:latin typeface="Calibri" pitchFamily="34" charset="0"/>
                <a:ea typeface="Calibri" pitchFamily="34" charset="-122"/>
                <a:cs typeface="Calibri" pitchFamily="34" charset="-120"/>
              </a:rPr>
              <a:t>Fechas de vigencia, no de emisión.</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92608"/>
            <a:ext cx="8229600" cy="384048"/>
          </a:xfrm>
          <a:prstGeom prst="rect">
            <a:avLst/>
          </a:prstGeom>
          <a:noFill/>
          <a:ln/>
        </p:spPr>
        <p:txBody>
          <a:bodyPr wrap="square" lIns="0" tIns="0" rIns="0" bIns="0" rtlCol="0" anchor="ctr"/>
          <a:lstStyle/>
          <a:p>
            <a:pPr indent="0" marL="0">
              <a:buNone/>
            </a:pPr>
            <a:r>
              <a:rPr lang="en-US" sz="2200" b="1" dirty="0">
                <a:solidFill>
                  <a:srgbClr val="1F2933"/>
                </a:solidFill>
                <a:latin typeface="Calibri" pitchFamily="34" charset="0"/>
                <a:ea typeface="Calibri" pitchFamily="34" charset="-122"/>
                <a:cs typeface="Calibri" pitchFamily="34" charset="-120"/>
              </a:rPr>
              <a:t>Medidas concurrentes con la vigencia de las transferencias pull</a:t>
            </a:r>
            <a:endParaRPr lang="en-US" sz="2200" dirty="0"/>
          </a:p>
        </p:txBody>
      </p:sp>
      <p:sp>
        <p:nvSpPr>
          <p:cNvPr id="3" name="Text 1"/>
          <p:cNvSpPr txBox="1"/>
          <p:nvPr/>
        </p:nvSpPr>
        <p:spPr>
          <a:xfrm>
            <a:off x="457200" y="704088"/>
            <a:ext cx="8229600" cy="274320"/>
          </a:xfrm>
          <a:prstGeom prst="rect">
            <a:avLst/>
          </a:prstGeom>
          <a:noFill/>
          <a:ln/>
        </p:spPr>
        <p:txBody>
          <a:bodyPr wrap="square" lIns="0" tIns="0" rIns="0" bIns="0" rtlCol="0" anchor="ctr"/>
          <a:lstStyle/>
          <a:p>
            <a:pPr indent="0" marL="0">
              <a:buNone/>
            </a:pPr>
            <a:r>
              <a:rPr lang="en-US" sz="1200" dirty="0">
                <a:solidFill>
                  <a:srgbClr val="667080"/>
                </a:solidFill>
                <a:latin typeface="Calibri" pitchFamily="34" charset="0"/>
                <a:ea typeface="Calibri" pitchFamily="34" charset="-122"/>
                <a:cs typeface="Calibri" pitchFamily="34" charset="-120"/>
              </a:rPr>
              <a:t>Com. “A” 7514, vigente el 30 de septiembre de 2022. Medidas del mes previo.</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188720"/>
                <a:gridCol w="1965960"/>
                <a:gridCol w="507492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Fecha</a:t>
                      </a:r>
                      <a:endParaRPr lang="en-US" sz="11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Medida</a:t>
                      </a:r>
                      <a:endParaRPr lang="en-US" sz="11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Qué cambia</a:t>
                      </a:r>
                      <a:endParaRPr lang="en-US" sz="11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r>
              <a:tr h="292608">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5-sep-2022</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Decreto 576/2022, “dólar soja”</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Ingresan USD 8.123 millones al BCRA durante septiembre</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r h="292608">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15-sep-2022</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Suba de tasa de política</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Leliq de 69,5% a 75%; piso de plazo fijo minorista en 75%</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r h="292608">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22-sep-2022</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Com. “A” 7611</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45 p.p. del efectivo mínimo sobre cuentas de PSPCP pasan a integrarse con BONTE</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bl>
          </a:graphicData>
        </a:graphic>
      </p:graphicFrame>
      <p:sp>
        <p:nvSpPr>
          <p:cNvPr id="5" name="Text 2"/>
          <p:cNvSpPr txBox="1"/>
          <p:nvPr/>
        </p:nvSpPr>
        <p:spPr>
          <a:xfrm>
            <a:off x="457200" y="2670048"/>
            <a:ext cx="8229600" cy="237744"/>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Puntos relevantes para el caso</a:t>
            </a:r>
            <a:endParaRPr lang="en-US" sz="1300" dirty="0"/>
          </a:p>
        </p:txBody>
      </p:sp>
      <p:sp>
        <p:nvSpPr>
          <p:cNvPr id="6" name="Text 3"/>
          <p:cNvSpPr txBox="1"/>
          <p:nvPr/>
        </p:nvSpPr>
        <p:spPr>
          <a:xfrm>
            <a:off x="457200" y="2980944"/>
            <a:ext cx="8229600" cy="141732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414B54"/>
                </a:solidFill>
                <a:latin typeface="Calibri" pitchFamily="34" charset="0"/>
                <a:ea typeface="Calibri" pitchFamily="34" charset="-122"/>
                <a:cs typeface="Calibri" pitchFamily="34" charset="-120"/>
              </a:rPr>
              <a:t>El dólar soja es un shock de depósitos concentrado en provincias agrícolas. La exposición del diseño se construye con la composición provincial de los depósitos de cada banco, de modo que confundidor y tratamiento están correlacionados por construcción.</a:t>
            </a:r>
            <a:endParaRPr lang="en-US" sz="1200" dirty="0"/>
          </a:p>
          <a:p>
            <a:pPr marL="177800" indent="-177800">
              <a:spcAft>
                <a:spcPts val="700"/>
              </a:spcAft>
              <a:buSzPct val="100000"/>
              <a:buChar char="•"/>
            </a:pPr>
            <a:r>
              <a:rPr lang="en-US" sz="1200" dirty="0">
                <a:solidFill>
                  <a:srgbClr val="414B54"/>
                </a:solidFill>
                <a:latin typeface="Calibri" pitchFamily="34" charset="0"/>
                <a:ea typeface="Calibri" pitchFamily="34" charset="-122"/>
                <a:cs typeface="Calibri" pitchFamily="34" charset="-120"/>
              </a:rPr>
              <a:t>La Com. “A” 7611 revierte parcialmente la Com. “A” 7429 sobre el mismo objeto, ocho días antes de la norma de pagos. El signo esperado para el período queda ambiguo.</a:t>
            </a:r>
            <a:endParaRPr lang="en-US" sz="1200" dirty="0"/>
          </a:p>
          <a:p>
            <a:pPr marL="177800" indent="-177800">
              <a:spcAft>
                <a:spcPts val="700"/>
              </a:spcAft>
              <a:buSzPct val="100000"/>
              <a:buChar char="•"/>
            </a:pPr>
            <a:r>
              <a:rPr lang="en-US" sz="1200" dirty="0">
                <a:solidFill>
                  <a:srgbClr val="414B54"/>
                </a:solidFill>
                <a:latin typeface="Calibri" pitchFamily="34" charset="0"/>
                <a:ea typeface="Calibri" pitchFamily="34" charset="-122"/>
                <a:cs typeface="Calibri" pitchFamily="34" charset="-120"/>
              </a:rPr>
              <a:t>En ninguna de las dos ventanas la norma de pagos opera sola: el tratamiento no es separable de las medidas de fondeo y de tasas concurrentes.</a:t>
            </a:r>
            <a:endParaRPr lang="en-US" sz="1200" dirty="0"/>
          </a:p>
        </p:txBody>
      </p:sp>
      <p:sp>
        <p:nvSpPr>
          <p:cNvPr id="7" name="Text 4"/>
          <p:cNvSpPr txBox="1"/>
          <p:nvPr/>
        </p:nvSpPr>
        <p:spPr>
          <a:xfrm>
            <a:off x="457200" y="4645152"/>
            <a:ext cx="8229600" cy="219456"/>
          </a:xfrm>
          <a:prstGeom prst="rect">
            <a:avLst/>
          </a:prstGeom>
          <a:noFill/>
          <a:ln/>
        </p:spPr>
        <p:txBody>
          <a:bodyPr wrap="square" lIns="0" tIns="0" rIns="0" bIns="0" rtlCol="0" anchor="ctr"/>
          <a:lstStyle/>
          <a:p>
            <a:pPr indent="0" marL="0">
              <a:buNone/>
            </a:pPr>
            <a:r>
              <a:rPr lang="en-US" sz="950" i="1" dirty="0">
                <a:solidFill>
                  <a:srgbClr val="667080"/>
                </a:solidFill>
                <a:latin typeface="Calibri" pitchFamily="34" charset="0"/>
                <a:ea typeface="Calibri" pitchFamily="34" charset="-122"/>
                <a:cs typeface="Calibri" pitchFamily="34" charset="-120"/>
              </a:rPr>
              <a:t>Fechas de vigencia, no de emisión.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92608"/>
            <a:ext cx="8229600" cy="384048"/>
          </a:xfrm>
          <a:prstGeom prst="rect">
            <a:avLst/>
          </a:prstGeom>
          <a:noFill/>
          <a:ln/>
        </p:spPr>
        <p:txBody>
          <a:bodyPr wrap="square" lIns="0" tIns="0" rIns="0" bIns="0" rtlCol="0" anchor="ctr"/>
          <a:lstStyle/>
          <a:p>
            <a:pPr indent="0" marL="0">
              <a:buNone/>
            </a:pPr>
            <a:r>
              <a:rPr lang="en-US" sz="2200" b="1" dirty="0">
                <a:solidFill>
                  <a:srgbClr val="1F2933"/>
                </a:solidFill>
                <a:latin typeface="Calibri" pitchFamily="34" charset="0"/>
                <a:ea typeface="Calibri" pitchFamily="34" charset="-122"/>
                <a:cs typeface="Calibri" pitchFamily="34" charset="-120"/>
              </a:rPr>
              <a:t>De la exposición provincial al registro de deudores</a:t>
            </a:r>
            <a:endParaRPr lang="en-US" sz="2200" dirty="0"/>
          </a:p>
        </p:txBody>
      </p:sp>
      <p:sp>
        <p:nvSpPr>
          <p:cNvPr id="3" name="Text 1"/>
          <p:cNvSpPr txBox="1"/>
          <p:nvPr/>
        </p:nvSpPr>
        <p:spPr>
          <a:xfrm>
            <a:off x="457200" y="704088"/>
            <a:ext cx="8229600" cy="274320"/>
          </a:xfrm>
          <a:prstGeom prst="rect">
            <a:avLst/>
          </a:prstGeom>
          <a:noFill/>
          <a:ln/>
        </p:spPr>
        <p:txBody>
          <a:bodyPr wrap="square" lIns="0" tIns="0" rIns="0" bIns="0" rtlCol="0" anchor="ctr"/>
          <a:lstStyle/>
          <a:p>
            <a:pPr indent="0" marL="0">
              <a:buNone/>
            </a:pPr>
            <a:r>
              <a:rPr lang="en-US" sz="1200" dirty="0">
                <a:solidFill>
                  <a:srgbClr val="667080"/>
                </a:solidFill>
                <a:latin typeface="Calibri" pitchFamily="34" charset="0"/>
                <a:ea typeface="Calibri" pitchFamily="34" charset="-122"/>
                <a:cs typeface="Calibri" pitchFamily="34" charset="-120"/>
              </a:rPr>
              <a:t>Las tres restricciones del diseño anterior y qué cambia con la Central de Deudores.</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828800"/>
                <a:gridCol w="2788920"/>
                <a:gridCol w="361188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Restricción</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Evidencia</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Qué cambia</a:t>
                      </a:r>
                      <a:endParaRPr lang="en-US" sz="110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r>
              <a:tr h="292608">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El shock no es separable</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Cada norma de pagos llega con medidas de fondeo y de tasas en la misma ventana</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La identificación pasa a estar dentro del deudor: el mismo CUIT con dos acreedores el mismo mes</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r h="292608">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La exposición no tiene dispersión</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Entre los 13 bancos con más de 2% de los depósitos, la adopción provincial ponderada va de 40,9 a 55,0, con desvío 3,8</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El domicilio del deudor da 3.375 mercados locales, con 22 bancos en el mercado mediano</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r h="292608">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La inferencia se apoya en 24 grupos</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El tratamiento varía a nivel provincia</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El shock de oferta se estima por banco y trimestre sobre 46 bancos, con dispersión del orden de la que reportan Gutierrez, Jaume y Tobal</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bl>
          </a:graphicData>
        </a:graphic>
      </p:graphicFrame>
      <p:sp>
        <p:nvSpPr>
          <p:cNvPr id="5" name="Text 2"/>
          <p:cNvSpPr txBox="1"/>
          <p:nvPr/>
        </p:nvSpPr>
        <p:spPr>
          <a:xfrm>
            <a:off x="457200" y="2999232"/>
            <a:ext cx="8229600" cy="237744"/>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Puntos relevantes para el caso</a:t>
            </a:r>
            <a:endParaRPr lang="en-US" sz="1300" dirty="0"/>
          </a:p>
        </p:txBody>
      </p:sp>
      <p:sp>
        <p:nvSpPr>
          <p:cNvPr id="6" name="Text 3"/>
          <p:cNvSpPr txBox="1"/>
          <p:nvPr/>
        </p:nvSpPr>
        <p:spPr>
          <a:xfrm>
            <a:off x="457200" y="3310128"/>
            <a:ext cx="8229600" cy="141732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414B54"/>
                </a:solidFill>
                <a:latin typeface="Calibri" pitchFamily="34" charset="0"/>
                <a:ea typeface="Calibri" pitchFamily="34" charset="-122"/>
                <a:cs typeface="Calibri" pitchFamily="34" charset="-120"/>
              </a:rPr>
              <a:t>El registro cubre bancos y no bancos con la misma definición de situación, de modo que el mismo deudor se sigue en los dos sistemas con una sola métrica.</a:t>
            </a:r>
            <a:endParaRPr lang="en-US" sz="1200" dirty="0"/>
          </a:p>
          <a:p>
            <a:pPr marL="177800" indent="-177800">
              <a:spcAft>
                <a:spcPts val="700"/>
              </a:spcAft>
              <a:buSzPct val="100000"/>
              <a:buChar char="•"/>
            </a:pPr>
            <a:r>
              <a:rPr lang="en-US" sz="1200" dirty="0">
                <a:solidFill>
                  <a:srgbClr val="414B54"/>
                </a:solidFill>
                <a:latin typeface="Calibri" pitchFamily="34" charset="0"/>
                <a:ea typeface="Calibri" pitchFamily="34" charset="-122"/>
                <a:cs typeface="Calibri" pitchFamily="34" charset="-120"/>
              </a:rPr>
              <a:t>El 34,2% de las personas tiene banco y no banco a la vez, contra 26,3% dos años antes. En empresas, el 30,0% tiene dos o más bancos.</a:t>
            </a:r>
            <a:endParaRPr lang="en-US" sz="1200" dirty="0"/>
          </a:p>
          <a:p>
            <a:pPr marL="177800" indent="-177800">
              <a:spcAft>
                <a:spcPts val="700"/>
              </a:spcAft>
              <a:buSzPct val="100000"/>
              <a:buChar char="•"/>
            </a:pPr>
            <a:r>
              <a:rPr lang="en-US" sz="1200" dirty="0">
                <a:solidFill>
                  <a:srgbClr val="414B54"/>
                </a:solidFill>
                <a:latin typeface="Calibri" pitchFamily="34" charset="0"/>
                <a:ea typeface="Calibri" pitchFamily="34" charset="-122"/>
                <a:cs typeface="Calibri" pitchFamily="34" charset="-120"/>
              </a:rPr>
              <a:t>Se abren dos preguntas que no dependen de una fecha limpia: si el crédito no bancario amortigua los shocks de oferta bancaria, y si los prestamistas sin sucursal amplían el crédito o reasignan deudores.</a:t>
            </a:r>
            <a:endParaRPr lang="en-US" sz="1200" dirty="0"/>
          </a:p>
        </p:txBody>
      </p:sp>
      <p:sp>
        <p:nvSpPr>
          <p:cNvPr id="7" name="Text 4"/>
          <p:cNvSpPr txBox="1"/>
          <p:nvPr/>
        </p:nvSpPr>
        <p:spPr>
          <a:xfrm>
            <a:off x="457200" y="4773168"/>
            <a:ext cx="8229600" cy="219456"/>
          </a:xfrm>
          <a:prstGeom prst="rect">
            <a:avLst/>
          </a:prstGeom>
          <a:noFill/>
          <a:ln/>
        </p:spPr>
        <p:txBody>
          <a:bodyPr wrap="square" lIns="0" tIns="0" rIns="0" bIns="0" rtlCol="0" anchor="ctr"/>
          <a:lstStyle/>
          <a:p>
            <a:pPr indent="0" marL="0">
              <a:buNone/>
            </a:pPr>
            <a:r>
              <a:rPr lang="en-US" sz="950" i="1" dirty="0">
                <a:solidFill>
                  <a:srgbClr val="667080"/>
                </a:solidFill>
                <a:latin typeface="Calibri" pitchFamily="34" charset="0"/>
                <a:ea typeface="Calibri" pitchFamily="34" charset="-122"/>
                <a:cs typeface="Calibri" pitchFamily="34" charset="-120"/>
              </a:rPr>
              <a:t>Cifras preliminares sobre la Central de Deudores, ago-2024 a jul-2026.</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92608"/>
            <a:ext cx="8229600" cy="384048"/>
          </a:xfrm>
          <a:prstGeom prst="rect">
            <a:avLst/>
          </a:prstGeom>
          <a:noFill/>
          <a:ln/>
        </p:spPr>
        <p:txBody>
          <a:bodyPr wrap="square" lIns="0" tIns="0" rIns="0" bIns="0" rtlCol="0" anchor="ctr"/>
          <a:lstStyle/>
          <a:p>
            <a:pPr indent="0" marL="0">
              <a:buNone/>
            </a:pPr>
            <a:r>
              <a:rPr lang="en-US" sz="2200" b="1" dirty="0">
                <a:solidFill>
                  <a:srgbClr val="1F2933"/>
                </a:solidFill>
                <a:latin typeface="Calibri" pitchFamily="34" charset="0"/>
                <a:ea typeface="Calibri" pitchFamily="34" charset="-122"/>
                <a:cs typeface="Calibri" pitchFamily="34" charset="-120"/>
              </a:rPr>
              <a:t>Distribución de acreedores por deudor</a:t>
            </a:r>
            <a:endParaRPr lang="en-US" sz="2200" dirty="0"/>
          </a:p>
        </p:txBody>
      </p:sp>
      <p:sp>
        <p:nvSpPr>
          <p:cNvPr id="3" name="Text 1"/>
          <p:cNvSpPr txBox="1"/>
          <p:nvPr/>
        </p:nvSpPr>
        <p:spPr>
          <a:xfrm>
            <a:off x="457200" y="704088"/>
            <a:ext cx="8229600" cy="274320"/>
          </a:xfrm>
          <a:prstGeom prst="rect">
            <a:avLst/>
          </a:prstGeom>
          <a:noFill/>
          <a:ln/>
        </p:spPr>
        <p:txBody>
          <a:bodyPr wrap="square" lIns="0" tIns="0" rIns="0" bIns="0" rtlCol="0" anchor="ctr"/>
          <a:lstStyle/>
          <a:p>
            <a:pPr indent="0" marL="0">
              <a:buNone/>
            </a:pPr>
            <a:r>
              <a:rPr lang="en-US" sz="1200" dirty="0">
                <a:solidFill>
                  <a:srgbClr val="667080"/>
                </a:solidFill>
                <a:latin typeface="Calibri" pitchFamily="34" charset="0"/>
                <a:ea typeface="Calibri" pitchFamily="34" charset="-122"/>
                <a:cs typeface="Calibri" pitchFamily="34" charset="-120"/>
              </a:rPr>
              <a:t>Central de Deudores, universo completo. Es la tabla que define la muestra de estimación de un diseño dentro del deudor.</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743200"/>
                <a:gridCol w="1371600"/>
                <a:gridCol w="1371600"/>
                <a:gridCol w="1371600"/>
                <a:gridCol w="1371600"/>
              </a:tblGrid>
              <a:tr h="265176">
                <a:tc>
                  <a:txBody>
                    <a:bodyPr/>
                    <a:lstStyle/>
                    <a:p>
                      <a:pPr algn="l"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Personas 2024m8</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Personas 2026m7</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Empresas 2024m8</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Empresas 2026m7</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r>
              <a:tr h="265176">
                <a:tc>
                  <a:txBody>
                    <a:bodyPr/>
                    <a:lstStyle/>
                    <a:p>
                      <a:pPr algn="l" indent="0" marL="0">
                        <a:buNone/>
                      </a:pPr>
                      <a:r>
                        <a:rPr lang="en-US" sz="1050" dirty="0">
                          <a:solidFill>
                            <a:srgbClr val="1F2933"/>
                          </a:solidFill>
                          <a:latin typeface="Calibri" pitchFamily="34" charset="0"/>
                          <a:ea typeface="Calibri" pitchFamily="34" charset="-122"/>
                          <a:cs typeface="Calibri" pitchFamily="34" charset="-120"/>
                        </a:rPr>
                        <a:t>Deudores</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17.326.062</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20.667.374</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225.712</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285.419</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r h="265176">
                <a:tc>
                  <a:txBody>
                    <a:bodyPr/>
                    <a:lstStyle/>
                    <a:p>
                      <a:pPr algn="l" indent="0" marL="0">
                        <a:buNone/>
                      </a:pPr>
                      <a:r>
                        <a:rPr lang="en-US" sz="1050" dirty="0">
                          <a:solidFill>
                            <a:srgbClr val="1F2933"/>
                          </a:solidFill>
                          <a:latin typeface="Calibri" pitchFamily="34" charset="0"/>
                          <a:ea typeface="Calibri" pitchFamily="34" charset="-122"/>
                          <a:cs typeface="Calibri" pitchFamily="34" charset="-120"/>
                        </a:rPr>
                        <a:t>Acreedores por deudor, media</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1,70</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1,88</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1,65</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1,71</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r h="265176">
                <a:tc>
                  <a:txBody>
                    <a:bodyPr/>
                    <a:lstStyle/>
                    <a:p>
                      <a:pPr algn="l" indent="0" marL="0">
                        <a:buNone/>
                      </a:pPr>
                      <a:r>
                        <a:rPr lang="en-US" sz="1050" dirty="0">
                          <a:solidFill>
                            <a:srgbClr val="1F2933"/>
                          </a:solidFill>
                          <a:latin typeface="Calibri" pitchFamily="34" charset="0"/>
                          <a:ea typeface="Calibri" pitchFamily="34" charset="-122"/>
                          <a:cs typeface="Calibri" pitchFamily="34" charset="-120"/>
                        </a:rPr>
                        <a:t>Un solo acreedor</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58,3%</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50,5%</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67,4%</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65,2%</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r h="265176">
                <a:tc>
                  <a:txBody>
                    <a:bodyPr/>
                    <a:lstStyle/>
                    <a:p>
                      <a:pPr algn="l" indent="0" marL="0">
                        <a:buNone/>
                      </a:pPr>
                      <a:r>
                        <a:rPr lang="en-US" sz="1050" b="1" dirty="0">
                          <a:solidFill>
                            <a:srgbClr val="1F2933"/>
                          </a:solidFill>
                          <a:latin typeface="Calibri" pitchFamily="34" charset="0"/>
                          <a:ea typeface="Calibri" pitchFamily="34" charset="-122"/>
                          <a:cs typeface="Calibri" pitchFamily="34" charset="-120"/>
                        </a:rPr>
                        <a:t>Dos o más acreedores</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b="1" dirty="0">
                          <a:solidFill>
                            <a:srgbClr val="1F2933"/>
                          </a:solidFill>
                          <a:latin typeface="Calibri" pitchFamily="34" charset="0"/>
                          <a:ea typeface="Calibri" pitchFamily="34" charset="-122"/>
                          <a:cs typeface="Calibri" pitchFamily="34" charset="-120"/>
                        </a:rPr>
                        <a:t>41,7%</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b="1" dirty="0">
                          <a:solidFill>
                            <a:srgbClr val="1F2933"/>
                          </a:solidFill>
                          <a:latin typeface="Calibri" pitchFamily="34" charset="0"/>
                          <a:ea typeface="Calibri" pitchFamily="34" charset="-122"/>
                          <a:cs typeface="Calibri" pitchFamily="34" charset="-120"/>
                        </a:rPr>
                        <a:t>49,5%</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b="1" dirty="0">
                          <a:solidFill>
                            <a:srgbClr val="1F2933"/>
                          </a:solidFill>
                          <a:latin typeface="Calibri" pitchFamily="34" charset="0"/>
                          <a:ea typeface="Calibri" pitchFamily="34" charset="-122"/>
                          <a:cs typeface="Calibri" pitchFamily="34" charset="-120"/>
                        </a:rPr>
                        <a:t>32,6%</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b="1" dirty="0">
                          <a:solidFill>
                            <a:srgbClr val="1F2933"/>
                          </a:solidFill>
                          <a:latin typeface="Calibri" pitchFamily="34" charset="0"/>
                          <a:ea typeface="Calibri" pitchFamily="34" charset="-122"/>
                          <a:cs typeface="Calibri" pitchFamily="34" charset="-120"/>
                        </a:rPr>
                        <a:t>34,8%</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r h="265176">
                <a:tc>
                  <a:txBody>
                    <a:bodyPr/>
                    <a:lstStyle/>
                    <a:p>
                      <a:pPr algn="l" indent="0" marL="0">
                        <a:buNone/>
                      </a:pPr>
                      <a:r>
                        <a:rPr lang="en-US" sz="1050" b="1" dirty="0">
                          <a:solidFill>
                            <a:srgbClr val="1F2933"/>
                          </a:solidFill>
                          <a:latin typeface="Calibri" pitchFamily="34" charset="0"/>
                          <a:ea typeface="Calibri" pitchFamily="34" charset="-122"/>
                          <a:cs typeface="Calibri" pitchFamily="34" charset="-120"/>
                        </a:rPr>
                        <a:t>Dos o más bancos</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b="1" dirty="0">
                          <a:solidFill>
                            <a:srgbClr val="1F2933"/>
                          </a:solidFill>
                          <a:latin typeface="Calibri" pitchFamily="34" charset="0"/>
                          <a:ea typeface="Calibri" pitchFamily="34" charset="-122"/>
                          <a:cs typeface="Calibri" pitchFamily="34" charset="-120"/>
                        </a:rPr>
                        <a:t>16,1%</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b="1" dirty="0">
                          <a:solidFill>
                            <a:srgbClr val="1F2933"/>
                          </a:solidFill>
                          <a:latin typeface="Calibri" pitchFamily="34" charset="0"/>
                          <a:ea typeface="Calibri" pitchFamily="34" charset="-122"/>
                          <a:cs typeface="Calibri" pitchFamily="34" charset="-120"/>
                        </a:rPr>
                        <a:t>18,0%</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b="1" dirty="0">
                          <a:solidFill>
                            <a:srgbClr val="1F2933"/>
                          </a:solidFill>
                          <a:latin typeface="Calibri" pitchFamily="34" charset="0"/>
                          <a:ea typeface="Calibri" pitchFamily="34" charset="-122"/>
                          <a:cs typeface="Calibri" pitchFamily="34" charset="-120"/>
                        </a:rPr>
                        <a:t>27,9%</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b="1" dirty="0">
                          <a:solidFill>
                            <a:srgbClr val="1F2933"/>
                          </a:solidFill>
                          <a:latin typeface="Calibri" pitchFamily="34" charset="0"/>
                          <a:ea typeface="Calibri" pitchFamily="34" charset="-122"/>
                          <a:cs typeface="Calibri" pitchFamily="34" charset="-120"/>
                        </a:rPr>
                        <a:t>30,0%</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r h="265176">
                <a:tc>
                  <a:txBody>
                    <a:bodyPr/>
                    <a:lstStyle/>
                    <a:p>
                      <a:pPr algn="l" indent="0" marL="0">
                        <a:buNone/>
                      </a:pPr>
                      <a:r>
                        <a:rPr lang="en-US" sz="1050" b="1" dirty="0">
                          <a:solidFill>
                            <a:srgbClr val="1F2933"/>
                          </a:solidFill>
                          <a:latin typeface="Calibri" pitchFamily="34" charset="0"/>
                          <a:ea typeface="Calibri" pitchFamily="34" charset="-122"/>
                          <a:cs typeface="Calibri" pitchFamily="34" charset="-120"/>
                        </a:rPr>
                        <a:t>Banco y no banco a la vez</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b="1" dirty="0">
                          <a:solidFill>
                            <a:srgbClr val="1F2933"/>
                          </a:solidFill>
                          <a:latin typeface="Calibri" pitchFamily="34" charset="0"/>
                          <a:ea typeface="Calibri" pitchFamily="34" charset="-122"/>
                          <a:cs typeface="Calibri" pitchFamily="34" charset="-120"/>
                        </a:rPr>
                        <a:t>26,3%</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b="1" dirty="0">
                          <a:solidFill>
                            <a:srgbClr val="1F2933"/>
                          </a:solidFill>
                          <a:latin typeface="Calibri" pitchFamily="34" charset="0"/>
                          <a:ea typeface="Calibri" pitchFamily="34" charset="-122"/>
                          <a:cs typeface="Calibri" pitchFamily="34" charset="-120"/>
                        </a:rPr>
                        <a:t>34,2%</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b="1" dirty="0">
                          <a:solidFill>
                            <a:srgbClr val="1F2933"/>
                          </a:solidFill>
                          <a:latin typeface="Calibri" pitchFamily="34" charset="0"/>
                          <a:ea typeface="Calibri" pitchFamily="34" charset="-122"/>
                          <a:cs typeface="Calibri" pitchFamily="34" charset="-120"/>
                        </a:rPr>
                        <a:t>11,5%</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b="1" dirty="0">
                          <a:solidFill>
                            <a:srgbClr val="1F2933"/>
                          </a:solidFill>
                          <a:latin typeface="Calibri" pitchFamily="34" charset="0"/>
                          <a:ea typeface="Calibri" pitchFamily="34" charset="-122"/>
                          <a:cs typeface="Calibri" pitchFamily="34" charset="-120"/>
                        </a:rPr>
                        <a:t>12,4%</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r h="265176">
                <a:tc>
                  <a:txBody>
                    <a:bodyPr/>
                    <a:lstStyle/>
                    <a:p>
                      <a:pPr algn="l" indent="0" marL="0">
                        <a:buNone/>
                      </a:pPr>
                      <a:r>
                        <a:rPr lang="en-US" sz="1050" dirty="0">
                          <a:solidFill>
                            <a:srgbClr val="1F2933"/>
                          </a:solidFill>
                          <a:latin typeface="Calibri" pitchFamily="34" charset="0"/>
                          <a:ea typeface="Calibri" pitchFamily="34" charset="-122"/>
                          <a:cs typeface="Calibri" pitchFamily="34" charset="-120"/>
                        </a:rPr>
                        <a:t>Con acreedor tipo billetera</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23,7%</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39,1%</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3,4%</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r h="265176">
                <a:tc>
                  <a:txBody>
                    <a:bodyPr/>
                    <a:lstStyle/>
                    <a:p>
                      <a:pPr algn="l" indent="0" marL="0">
                        <a:buNone/>
                      </a:pPr>
                      <a:r>
                        <a:rPr lang="en-US" sz="1050" dirty="0">
                          <a:solidFill>
                            <a:srgbClr val="1F2933"/>
                          </a:solidFill>
                          <a:latin typeface="Calibri" pitchFamily="34" charset="0"/>
                          <a:ea typeface="Calibri" pitchFamily="34" charset="-122"/>
                          <a:cs typeface="Calibri" pitchFamily="34" charset="-120"/>
                        </a:rPr>
                        <a:t>Sin ningún banco</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25,2%</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29,2%</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2,8%</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bl>
          </a:graphicData>
        </a:graphic>
      </p:graphicFrame>
      <p:sp>
        <p:nvSpPr>
          <p:cNvPr id="5" name="Text 2"/>
          <p:cNvSpPr txBox="1"/>
          <p:nvPr/>
        </p:nvSpPr>
        <p:spPr>
          <a:xfrm>
            <a:off x="457200" y="3675888"/>
            <a:ext cx="8229600" cy="237744"/>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Puntos relevantes para el caso</a:t>
            </a:r>
            <a:endParaRPr lang="en-US" sz="1300" dirty="0"/>
          </a:p>
        </p:txBody>
      </p:sp>
      <p:sp>
        <p:nvSpPr>
          <p:cNvPr id="6" name="Text 3"/>
          <p:cNvSpPr txBox="1"/>
          <p:nvPr/>
        </p:nvSpPr>
        <p:spPr>
          <a:xfrm>
            <a:off x="457200" y="3986784"/>
            <a:ext cx="8229600" cy="141732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414B54"/>
                </a:solidFill>
                <a:latin typeface="Calibri" pitchFamily="34" charset="0"/>
                <a:ea typeface="Calibri" pitchFamily="34" charset="-122"/>
                <a:cs typeface="Calibri" pitchFamily="34" charset="-120"/>
              </a:rPr>
              <a:t>Gutierrez, Jaume y Tobal reportan que el 74% de las firmas mexicanas tiene un solo banco y por eso descartan el diseño dentro del deudor. Acá es 65,2%, de modo que en empresas el diseño banco contra banco es viable.</a:t>
            </a:r>
            <a:endParaRPr lang="en-US" sz="1200" dirty="0"/>
          </a:p>
          <a:p>
            <a:pPr marL="177800" indent="-177800">
              <a:spcAft>
                <a:spcPts val="700"/>
              </a:spcAft>
              <a:buSzPct val="100000"/>
              <a:buChar char="•"/>
            </a:pPr>
            <a:r>
              <a:rPr lang="en-US" sz="1200" dirty="0">
                <a:solidFill>
                  <a:srgbClr val="414B54"/>
                </a:solidFill>
                <a:latin typeface="Calibri" pitchFamily="34" charset="0"/>
                <a:ea typeface="Calibri" pitchFamily="34" charset="-122"/>
                <a:cs typeface="Calibri" pitchFamily="34" charset="-120"/>
              </a:rPr>
              <a:t>En personas el margen relevante no es banco contra banco sino banco contra no banco, que pasa de 26,3% a 34,2% en dos años.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92608"/>
            <a:ext cx="8229600" cy="384048"/>
          </a:xfrm>
          <a:prstGeom prst="rect">
            <a:avLst/>
          </a:prstGeom>
          <a:noFill/>
          <a:ln/>
        </p:spPr>
        <p:txBody>
          <a:bodyPr wrap="square" lIns="0" tIns="0" rIns="0" bIns="0" rtlCol="0" anchor="ctr"/>
          <a:lstStyle/>
          <a:p>
            <a:pPr indent="0" marL="0">
              <a:buNone/>
            </a:pPr>
            <a:r>
              <a:rPr lang="en-US" sz="2200" b="1" dirty="0">
                <a:solidFill>
                  <a:srgbClr val="1F2933"/>
                </a:solidFill>
                <a:latin typeface="Calibri" pitchFamily="34" charset="0"/>
                <a:ea typeface="Calibri" pitchFamily="34" charset="-122"/>
                <a:cs typeface="Calibri" pitchFamily="34" charset="-120"/>
              </a:rPr>
              <a:t>Quién le presta a las personas</a:t>
            </a:r>
            <a:endParaRPr lang="en-US" sz="2200" dirty="0"/>
          </a:p>
        </p:txBody>
      </p:sp>
      <p:sp>
        <p:nvSpPr>
          <p:cNvPr id="3" name="Text 1"/>
          <p:cNvSpPr txBox="1"/>
          <p:nvPr/>
        </p:nvSpPr>
        <p:spPr>
          <a:xfrm>
            <a:off x="457200" y="704088"/>
            <a:ext cx="8229600" cy="274320"/>
          </a:xfrm>
          <a:prstGeom prst="rect">
            <a:avLst/>
          </a:prstGeom>
          <a:noFill/>
          <a:ln/>
        </p:spPr>
        <p:txBody>
          <a:bodyPr wrap="square" lIns="0" tIns="0" rIns="0" bIns="0" rtlCol="0" anchor="ctr"/>
          <a:lstStyle/>
          <a:p>
            <a:pPr indent="0" marL="0">
              <a:buNone/>
            </a:pPr>
            <a:r>
              <a:rPr lang="en-US" sz="1200" dirty="0">
                <a:solidFill>
                  <a:srgbClr val="667080"/>
                </a:solidFill>
                <a:latin typeface="Calibri" pitchFamily="34" charset="0"/>
                <a:ea typeface="Calibri" pitchFamily="34" charset="-122"/>
                <a:cs typeface="Calibri" pitchFamily="34" charset="-120"/>
              </a:rPr>
              <a:t>Relaciones vivas en julio de 2026, por tipo de acreedor. Situación 3 a 5 es mora.</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377440"/>
                <a:gridCol w="1600200"/>
                <a:gridCol w="1234440"/>
                <a:gridCol w="1417320"/>
                <a:gridCol w="1600200"/>
              </a:tblGrid>
              <a:tr h="27432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Tipo de acreedor</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Relaciones</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Mora</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Deuda en mora</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Saldo mediano</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solidFill>
                      <a:srgbClr val="2E3A44"/>
                    </a:solidFill>
                  </a:tcPr>
                </a:tc>
              </a:tr>
              <a:tr h="274320">
                <a:tc>
                  <a:txBody>
                    <a:bodyPr/>
                    <a:lstStyle/>
                    <a:p>
                      <a:pPr algn="l" indent="0" marL="0">
                        <a:buNone/>
                      </a:pPr>
                      <a:r>
                        <a:rPr lang="en-US" sz="1050" dirty="0">
                          <a:solidFill>
                            <a:srgbClr val="1F2933"/>
                          </a:solidFill>
                          <a:latin typeface="Calibri" pitchFamily="34" charset="0"/>
                          <a:ea typeface="Calibri" pitchFamily="34" charset="-122"/>
                          <a:cs typeface="Calibri" pitchFamily="34" charset="-120"/>
                        </a:rPr>
                        <a:t>Banco</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19.610.670</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16,2%</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12,5%</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$1.062.000</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r h="274320">
                <a:tc>
                  <a:txBody>
                    <a:bodyPr/>
                    <a:lstStyle/>
                    <a:p>
                      <a:pPr algn="l" indent="0" marL="0">
                        <a:buNone/>
                      </a:pPr>
                      <a:r>
                        <a:rPr lang="en-US" sz="1050" dirty="0">
                          <a:solidFill>
                            <a:srgbClr val="1F2933"/>
                          </a:solidFill>
                          <a:latin typeface="Calibri" pitchFamily="34" charset="0"/>
                          <a:ea typeface="Calibri" pitchFamily="34" charset="-122"/>
                          <a:cs typeface="Calibri" pitchFamily="34" charset="-120"/>
                        </a:rPr>
                        <a:t>No bancario</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16.032.184</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27,8%</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30,4%</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$348.000</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r h="274320">
                <a:tc>
                  <a:txBody>
                    <a:bodyPr/>
                    <a:lstStyle/>
                    <a:p>
                      <a:pPr algn="l" indent="0" marL="0">
                        <a:buNone/>
                      </a:pPr>
                      <a:r>
                        <a:rPr lang="en-US" sz="1050" dirty="0">
                          <a:solidFill>
                            <a:srgbClr val="1F2933"/>
                          </a:solidFill>
                          <a:latin typeface="Calibri" pitchFamily="34" charset="0"/>
                          <a:ea typeface="Calibri" pitchFamily="34" charset="-122"/>
                          <a:cs typeface="Calibri" pitchFamily="34" charset="-120"/>
                        </a:rPr>
                        <a:t>Compañía financiera</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1.926.400</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39,3%</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22,6%</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$182.000</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r h="274320">
                <a:tc>
                  <a:txBody>
                    <a:bodyPr/>
                    <a:lstStyle/>
                    <a:p>
                      <a:pPr algn="l" indent="0" marL="0">
                        <a:buNone/>
                      </a:pPr>
                      <a:r>
                        <a:rPr lang="en-US" sz="1050" dirty="0">
                          <a:solidFill>
                            <a:srgbClr val="1F2933"/>
                          </a:solidFill>
                          <a:latin typeface="Calibri" pitchFamily="34" charset="0"/>
                          <a:ea typeface="Calibri" pitchFamily="34" charset="-122"/>
                          <a:cs typeface="Calibri" pitchFamily="34" charset="-120"/>
                        </a:rPr>
                        <a:t>Mutual o cooperativa</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353.271</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25,0%</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15,8%</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$502.000</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r h="274320">
                <a:tc>
                  <a:txBody>
                    <a:bodyPr/>
                    <a:lstStyle/>
                    <a:p>
                      <a:pPr algn="l" indent="0" marL="0">
                        <a:buNone/>
                      </a:pPr>
                      <a:r>
                        <a:rPr lang="en-US" sz="1050" dirty="0">
                          <a:solidFill>
                            <a:srgbClr val="1F2933"/>
                          </a:solidFill>
                          <a:latin typeface="Calibri" pitchFamily="34" charset="0"/>
                          <a:ea typeface="Calibri" pitchFamily="34" charset="-122"/>
                          <a:cs typeface="Calibri" pitchFamily="34" charset="-120"/>
                        </a:rPr>
                        <a:t>Fideicomiso financiero</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897.267</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77,0%</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19,3%</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c>
                  <a:txBody>
                    <a:bodyPr/>
                    <a:lstStyle/>
                    <a:p>
                      <a:pPr algn="ctr" indent="0" marL="0">
                        <a:buNone/>
                      </a:pPr>
                      <a:r>
                        <a:rPr lang="en-US" sz="1050" dirty="0">
                          <a:solidFill>
                            <a:srgbClr val="1F2933"/>
                          </a:solidFill>
                          <a:latin typeface="Calibri" pitchFamily="34" charset="0"/>
                          <a:ea typeface="Calibri" pitchFamily="34" charset="-122"/>
                          <a:cs typeface="Calibri" pitchFamily="34" charset="-120"/>
                        </a:rPr>
                        <a:t>$258.000</a:t>
                      </a:r>
                      <a:endParaRPr lang="en-US" sz="1050" dirty="0">
                        <a:latin typeface="Calibri" charset="0"/>
                        <a:ea typeface="Calibri" charset="0"/>
                        <a:cs typeface="Calibri" charset="0"/>
                      </a:endParaRPr>
                    </a:p>
                  </a:txBody>
                  <a:tcPr marL="76200" marR="76200" marT="38100" marB="38100" anchor="ctr">
                    <a:lnL w="6350" cap="flat" cmpd="sng" algn="ctr">
                      <a:solidFill>
                        <a:srgbClr val="C9CFD4"/>
                      </a:solidFill>
                      <a:prstDash val="solid"/>
                      <a:round/>
                      <a:headEnd type="none" w="med" len="med"/>
                      <a:tailEnd type="none" w="med" len="med"/>
                    </a:lnL>
                    <a:lnR w="6350" cap="flat" cmpd="sng" algn="ctr">
                      <a:solidFill>
                        <a:srgbClr val="C9CFD4"/>
                      </a:solidFill>
                      <a:prstDash val="solid"/>
                      <a:round/>
                      <a:headEnd type="none" w="med" len="med"/>
                      <a:tailEnd type="none" w="med" len="med"/>
                    </a:lnR>
                    <a:lnT w="6350" cap="flat" cmpd="sng" algn="ctr">
                      <a:solidFill>
                        <a:srgbClr val="C9CFD4"/>
                      </a:solidFill>
                      <a:prstDash val="solid"/>
                      <a:round/>
                      <a:headEnd type="none" w="med" len="med"/>
                      <a:tailEnd type="none" w="med" len="med"/>
                    </a:lnT>
                    <a:lnB w="6350" cap="flat" cmpd="sng" algn="ctr">
                      <a:solidFill>
                        <a:srgbClr val="C9CFD4"/>
                      </a:solidFill>
                      <a:prstDash val="solid"/>
                      <a:round/>
                      <a:headEnd type="none" w="med" len="med"/>
                      <a:tailEnd type="none" w="med" len="med"/>
                    </a:lnB>
                  </a:tcPr>
                </a:tc>
              </a:tr>
            </a:tbl>
          </a:graphicData>
        </a:graphic>
      </p:graphicFrame>
      <p:sp>
        <p:nvSpPr>
          <p:cNvPr id="5" name="Text 2"/>
          <p:cNvSpPr txBox="1"/>
          <p:nvPr/>
        </p:nvSpPr>
        <p:spPr>
          <a:xfrm>
            <a:off x="457200" y="3017520"/>
            <a:ext cx="8229600" cy="237744"/>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Puntos relevantes para el caso</a:t>
            </a:r>
            <a:endParaRPr lang="en-US" sz="1300" dirty="0"/>
          </a:p>
        </p:txBody>
      </p:sp>
      <p:sp>
        <p:nvSpPr>
          <p:cNvPr id="6" name="Text 3"/>
          <p:cNvSpPr txBox="1"/>
          <p:nvPr/>
        </p:nvSpPr>
        <p:spPr>
          <a:xfrm>
            <a:off x="457200" y="3328416"/>
            <a:ext cx="8229600" cy="141732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414B54"/>
                </a:solidFill>
                <a:latin typeface="Calibri" pitchFamily="34" charset="0"/>
                <a:ea typeface="Calibri" pitchFamily="34" charset="-122"/>
                <a:cs typeface="Calibri" pitchFamily="34" charset="-120"/>
              </a:rPr>
              <a:t>El crédito no bancario es casi la mitad de las relaciones de crédito a personas del país, con un ticket mediano de un tercio del bancario y una mora del doble.</a:t>
            </a:r>
            <a:endParaRPr lang="en-US" sz="1200" dirty="0"/>
          </a:p>
          <a:p>
            <a:pPr marL="177800" indent="-177800">
              <a:spcAft>
                <a:spcPts val="700"/>
              </a:spcAft>
              <a:buSzPct val="100000"/>
              <a:buChar char="•"/>
            </a:pPr>
            <a:r>
              <a:rPr lang="en-US" sz="1200" dirty="0">
                <a:solidFill>
                  <a:srgbClr val="414B54"/>
                </a:solidFill>
                <a:latin typeface="Calibri" pitchFamily="34" charset="0"/>
                <a:ea typeface="Calibri" pitchFamily="34" charset="-122"/>
                <a:cs typeface="Calibri" pitchFamily="34" charset="-120"/>
              </a:rPr>
              <a:t>Los fideicomisos financieros no son prestamistas: son vehículos que tienen cartera ya deteriorada, y por eso hay que excluirlos del análisis y usarlos como placebo.</a:t>
            </a:r>
            <a:endParaRPr lang="en-US" sz="1200" dirty="0"/>
          </a:p>
          <a:p>
            <a:pPr marL="177800" indent="-177800">
              <a:spcAft>
                <a:spcPts val="700"/>
              </a:spcAft>
              <a:buSzPct val="100000"/>
              <a:buChar char="•"/>
            </a:pPr>
            <a:r>
              <a:rPr lang="en-US" sz="1200" dirty="0">
                <a:solidFill>
                  <a:srgbClr val="414B54"/>
                </a:solidFill>
                <a:latin typeface="Calibri" pitchFamily="34" charset="0"/>
                <a:ea typeface="Calibri" pitchFamily="34" charset="-122"/>
                <a:cs typeface="Calibri" pitchFamily="34" charset="-120"/>
              </a:rPr>
              <a:t>De los deudores que entran por primera vez al registro, el 50,1% lo hace por un acreedor no bancario y el 36,6% por un banco. En empresas es al revés: el 90,0% entra por un banco.</a:t>
            </a:r>
            <a:endParaRPr lang="en-US" sz="1200" dirty="0"/>
          </a:p>
        </p:txBody>
      </p:sp>
      <p:sp>
        <p:nvSpPr>
          <p:cNvPr id="7" name="Text 4"/>
          <p:cNvSpPr txBox="1"/>
          <p:nvPr/>
        </p:nvSpPr>
        <p:spPr>
          <a:xfrm>
            <a:off x="457200" y="4773168"/>
            <a:ext cx="8229600" cy="219456"/>
          </a:xfrm>
          <a:prstGeom prst="rect">
            <a:avLst/>
          </a:prstGeom>
          <a:noFill/>
          <a:ln/>
        </p:spPr>
        <p:txBody>
          <a:bodyPr wrap="square" lIns="0" tIns="0" rIns="0" bIns="0" rtlCol="0" anchor="ctr"/>
          <a:lstStyle/>
          <a:p>
            <a:pPr indent="0" marL="0">
              <a:buNone/>
            </a:pPr>
            <a:r>
              <a:rPr lang="en-US" sz="950" i="1" dirty="0">
                <a:solidFill>
                  <a:srgbClr val="667080"/>
                </a:solidFill>
                <a:latin typeface="Calibri" pitchFamily="34" charset="0"/>
                <a:ea typeface="Calibri" pitchFamily="34" charset="-122"/>
                <a:cs typeface="Calibri" pitchFamily="34" charset="-120"/>
              </a:rPr>
              <a:t>Central de Deudores, universo completo. Excluye garantías (SGR y fondos públicos), que son 6.568 relaciones.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2026-09-02T22:06:01Z</dcterms:created>
  <dcterms:modified xsi:type="dcterms:W3CDTF">2026-09-02T22:06:01Z</dcterms:modified>
</cp:coreProperties>
</file>