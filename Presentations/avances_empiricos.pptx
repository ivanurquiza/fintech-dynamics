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71" d="100"/>
          <a:sy n="171" d="100"/>
        </p:scale>
        <p:origin x="-8" y="-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6711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866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shocks que evaluamos</a:t>
            </a:r>
            <a:endParaRPr lang="en-US" sz="2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8321040" cy="144932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Vigencia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habilita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qué puede mover depósitos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7400 (QR interoperable)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29-nov-2021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 billetera puede leer todo código QR para pagar con transferencia.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comercio que cobra por QR recibe en la cuenta de la billetera (CVU), no en su cuenta bancaria: puede mover el depósito transaccional de los comercios.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7514 (transferencias pull)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30-sep-2022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billetera puede debitar una cuenta bancaria de otra entidad, con consentimiento del titular.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 la fricción que estabilizaba la vista del hogar: el saldo puede debitarse de forma automática hacia la billetera.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país en dos fotos: adopción de billeteras por provincia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= personas con al menos una cuenta de pago (CVU), % de las personas con alguna cuenta. Misma escala de color en ambos paneles.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11480" y="1097280"/>
            <a:ext cx="3482884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11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</a:t>
            </a: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el panel Izquierdo: </a:t>
            </a:r>
            <a:r>
              <a:rPr lang="en-US" sz="1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2021q3, último trimestre previo a las reformas, la adopción va de 23% (Santiago del Estero) a 59% (Santa Cruz).</a:t>
            </a:r>
            <a:endParaRPr lang="en-US" sz="110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00" dirty="0" err="1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Posteriormente</a:t>
            </a:r>
            <a:r>
              <a:rPr lang="en-US" sz="1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</a:t>
            </a:r>
            <a:r>
              <a:rPr lang="en-US" sz="1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las provincias convergen hacia arriba (55% a 80% en 2023q4).</a:t>
            </a:r>
            <a:endParaRPr lang="en-US" sz="1100" dirty="0"/>
          </a:p>
        </p:txBody>
      </p:sp>
      <p:pic>
        <p:nvPicPr>
          <p:cNvPr id="5" name="Image 0" descr="av_mapa_adop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097280"/>
            <a:ext cx="5074920" cy="36484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provincia al banco: la medida de exposición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banco queda expuesto según dónde están sus depositantes.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11480" y="1143000"/>
            <a:ext cx="8321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200" b="1" dirty="0" err="1">
                <a:solidFill>
                  <a:srgbClr val="1F3864"/>
                </a:solidFill>
                <a:latin typeface="Calibri" pitchFamily="34" charset="0"/>
                <a:cs typeface="Calibri" pitchFamily="34" charset="-120"/>
              </a:rPr>
              <a:t>Exposición</a:t>
            </a: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cs typeface="Calibri" pitchFamily="34" charset="-120"/>
              </a:rPr>
              <a:t> del banco = adopción provincial de 2021q3 </a:t>
            </a:r>
            <a:r>
              <a:rPr lang="en-US" sz="1200" b="1" dirty="0" err="1">
                <a:solidFill>
                  <a:srgbClr val="1F3864"/>
                </a:solidFill>
                <a:latin typeface="Calibri" pitchFamily="34" charset="0"/>
                <a:cs typeface="Calibri" pitchFamily="34" charset="-120"/>
              </a:rPr>
              <a:t>promediada</a:t>
            </a: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cs typeface="Calibri" pitchFamily="34" charset="-120"/>
              </a:rPr>
              <a:t> con el peso de cada provincia en los depósitos del banco (pesos promediados sobre 2021m3-m9). </a:t>
            </a:r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CABA se excluye de </a:t>
            </a:r>
            <a:r>
              <a:rPr lang="en-US" sz="12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pesos: </a:t>
            </a: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bancos mayoristas que contabilizan sus depósitos en la casa matriz heredarían la adopción de CABA sin tener depositantes minoristas.</a:t>
            </a:r>
            <a:endParaRPr lang="en-US" sz="120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2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</a:t>
            </a: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36 </a:t>
            </a:r>
            <a:r>
              <a:rPr lang="en-US" sz="12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</a:t>
            </a: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minoristas</a:t>
            </a: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</a:t>
            </a: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</a:t>
            </a: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más del 10% de sus depósitos privados en vista minorista durante 2021. </a:t>
            </a:r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200" b="1" u="sng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grupos de las figuras son el tercil superior y el inferior de exposición, 11 bancos por grupo.</a:t>
            </a:r>
            <a:endParaRPr lang="en-US" sz="1200" b="1" u="sng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verificaciones previas sobre la exposición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Izquierda: los pesos son estructurales. Derecha: la adopción crece pareja después de las reformas.</a:t>
            </a:r>
            <a:endParaRPr lang="en-US" sz="1150" dirty="0"/>
          </a:p>
        </p:txBody>
      </p:sp>
      <p:pic>
        <p:nvPicPr>
          <p:cNvPr id="4" name="Image 0" descr="av_pesos_estabili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94994"/>
            <a:ext cx="3371850" cy="3371850"/>
          </a:xfrm>
          <a:prstGeom prst="rect">
            <a:avLst/>
          </a:prstGeom>
        </p:spPr>
      </p:pic>
      <p:pic>
        <p:nvPicPr>
          <p:cNvPr id="5" name="Image 1" descr="av_sd_crecimien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3330" y="1465816"/>
            <a:ext cx="5266352" cy="22118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1480" y="4466844"/>
            <a:ext cx="33718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</a:t>
            </a:r>
            <a:r>
              <a:rPr lang="en-US" sz="95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estables</a:t>
            </a: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50" b="1" u="sng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 de depósitos de cada banco casi no cambia entre 2019 y 2021 (correlación 0,992).</a:t>
            </a:r>
            <a:endParaRPr lang="en-US" sz="950" b="1" u="sng" dirty="0"/>
          </a:p>
        </p:txBody>
      </p:sp>
      <p:sp>
        <p:nvSpPr>
          <p:cNvPr id="7" name="Text 3"/>
          <p:cNvSpPr/>
          <p:nvPr/>
        </p:nvSpPr>
        <p:spPr>
          <a:xfrm>
            <a:off x="4020482" y="3826764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salto diferencial de </a:t>
            </a:r>
            <a:r>
              <a:rPr lang="en-US" sz="95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</a:t>
            </a: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las reformas las provincias crecen al mismo ritmo. El pico de 2022q1 es una sola provincia, Santa Fe (ciclo de la billetera provincial); se excluye en robustez.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descriptivas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y desvío por grupo de exposición, promedios del período previo (2021m1-2021m10). 11 bancos por grupo.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8321040" cy="201168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Exposición alta: media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desvío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Exposición baja: media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desvío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Exposición (adopción ponderada, 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Activo real (billones de pesos de 2026)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Depósitos / activo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Vista minorista / depósitos SPNF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 corriente / depósitos SPNF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Plazo fijo / depósitos SPNF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de los depósitos (% anual)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349758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</a:t>
            </a:r>
            <a:r>
              <a:rPr lang="en-US" sz="1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grupos son comparables en tamaño, apalancamiento y composición del </a:t>
            </a:r>
            <a:r>
              <a:rPr lang="en-US" sz="1000" b="1" dirty="0" err="1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pasivo</a:t>
            </a:r>
            <a:r>
              <a:rPr lang="en-US" sz="10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</a:t>
            </a:r>
            <a:r>
              <a:rPr lang="en-US" sz="1000" dirty="0" err="1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Provincias</a:t>
            </a:r>
            <a:r>
              <a:rPr lang="en-US" sz="10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para referencia: adopción media 42,4%.</a:t>
            </a:r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0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</a:t>
            </a:r>
            <a:r>
              <a:rPr lang="en-US" sz="1000" i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depósitos = intereses pagados por depósitos en pesos sobre el stock, anualizado</a:t>
            </a:r>
            <a:r>
              <a:rPr lang="en-US" sz="10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00" b="1" i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minorista = caja de ahorros + cuenta sueldo + cuenta gratuita universal + ahorro UVA.</a:t>
            </a:r>
            <a:endParaRPr lang="en-US" sz="1000" b="1" i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a </a:t>
            </a:r>
            <a:r>
              <a:rPr lang="en-US" sz="21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r>
              <a:rPr lang="en-US" sz="2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2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términos de cuentas del balance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Depósitos del sector privado no financiero en pesos. Cada uno tiene su versión en cantidad (saldo real), composición (share del pasivo) y precio (tasa implícita).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819098"/>
              </p:ext>
            </p:extLst>
          </p:nvPr>
        </p:nvGraphicFramePr>
        <p:xfrm>
          <a:off x="411480" y="1143000"/>
          <a:ext cx="8321040" cy="21640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pregunta responde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Caja de ahorros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311718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depósito a la vista del hogar: la cuenta que el pull puede debitar.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Vista minorista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311718 + 311726 + 311722 + 311785/86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Caja de ahorros más cuenta sueldo, cuenta gratuita universal y ahorro UVA: toda la vista de personas humanas.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 corriente sin interés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311706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depósito transaccional de las empresas: el canal del comercio que cobra por QR.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Plazo fijo, todas las modalidades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311731/40/66/67 + precancelables + UVA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ahorro a plazo: el margen de defensa del banco vía tasa.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Cta cte especial de PJ con interés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311724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Vista remunerada de personas </a:t>
                      </a:r>
                      <a:r>
                        <a:rPr lang="en-US" sz="1000" dirty="0" err="1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jurídicas</a:t>
                      </a:r>
                      <a:r>
                        <a:rPr lang="en-US" sz="100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Es </a:t>
                      </a:r>
                      <a:r>
                        <a:rPr lang="en-US" sz="1000" dirty="0" err="1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</a:t>
                      </a:r>
                      <a:r>
                        <a:rPr lang="en-US" sz="100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</a:t>
                      </a:r>
                      <a:r>
                        <a:rPr lang="en-US" sz="100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proxy para Pensar FCI.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por instrumento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521062/63/64/65 y 521003, sobre los stocks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tasa implícita que paga cada banco por cuenta corriente, caja de ahorros, plazo fijo y otros depósitos.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 err="1">
                <a:solidFill>
                  <a:srgbClr val="1F3864"/>
                </a:solidFill>
                <a:latin typeface="Calibri" pitchFamily="34" charset="0"/>
                <a:cs typeface="Calibri" pitchFamily="34" charset="-120"/>
              </a:rPr>
              <a:t>Depósitos</a:t>
            </a:r>
            <a:r>
              <a:rPr lang="en-US" sz="2100" b="1" dirty="0">
                <a:solidFill>
                  <a:srgbClr val="1F3864"/>
                </a:solidFill>
                <a:latin typeface="Calibri" pitchFamily="34" charset="0"/>
                <a:cs typeface="Calibri" pitchFamily="34" charset="-120"/>
              </a:rPr>
              <a:t> Vista y </a:t>
            </a:r>
            <a:r>
              <a:rPr lang="en-US" sz="2100" b="1" dirty="0" err="1">
                <a:solidFill>
                  <a:srgbClr val="1F3864"/>
                </a:solidFill>
                <a:latin typeface="Calibri" pitchFamily="34" charset="0"/>
                <a:cs typeface="Calibri" pitchFamily="34" charset="-120"/>
              </a:rPr>
              <a:t>plazos</a:t>
            </a:r>
            <a:r>
              <a:rPr lang="en-US" sz="2100" b="1" dirty="0">
                <a:solidFill>
                  <a:srgbClr val="1F3864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F3864"/>
                </a:solidFill>
                <a:latin typeface="Calibri" pitchFamily="34" charset="0"/>
                <a:cs typeface="Calibri" pitchFamily="34" charset="-120"/>
              </a:rPr>
              <a:t>fijo</a:t>
            </a:r>
            <a:r>
              <a:rPr lang="en-US" sz="2100" b="1" dirty="0">
                <a:solidFill>
                  <a:srgbClr val="1F3864"/>
                </a:solidFill>
                <a:latin typeface="Calibri" pitchFamily="34" charset="0"/>
                <a:cs typeface="Calibri" pitchFamily="34" charset="-120"/>
              </a:rPr>
              <a:t>.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Depósitos reales por grupo de exposición, bancos minoristas, índice 100 un mes antes de cada reforma.</a:t>
            </a:r>
            <a:endParaRPr lang="en-US" sz="1150" dirty="0"/>
          </a:p>
        </p:txBody>
      </p:sp>
      <p:pic>
        <p:nvPicPr>
          <p:cNvPr id="4" name="Image 0" descr="av_grilla_2x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97280"/>
            <a:ext cx="5212080" cy="265176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942705"/>
              </p:ext>
            </p:extLst>
          </p:nvPr>
        </p:nvGraphicFramePr>
        <p:xfrm>
          <a:off x="5806440" y="1234440"/>
          <a:ext cx="3200400" cy="10134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Crecimiento real a 12 meses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nov-2021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 sep-2022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Vista minorista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Plazo fijo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-0,067 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 corriente sin interés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+0,091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Caja de ahorros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806440" y="22479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Efectos</a:t>
            </a:r>
            <a:r>
              <a:rPr lang="en-US" sz="8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fijos de banco y de mes, ventana de doce meses a cada lado, sin controles.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11480" y="40233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Alrededor del QR </a:t>
            </a:r>
            <a:r>
              <a:rPr lang="en-US" sz="1050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parece</a:t>
            </a:r>
            <a:r>
              <a:rPr lang="en-US" sz="10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haber</a:t>
            </a:r>
            <a:r>
              <a:rPr lang="en-US" sz="10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algo de recomposición. </a:t>
            </a:r>
            <a:r>
              <a:rPr lang="en-US" sz="10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vista minorista y plazo fijo, más cuenta corriente, en los bancos más expuestos. Alrededor del pull casi no da nada.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Referencias: estrategia y qué tomamos</a:t>
            </a:r>
            <a:endParaRPr lang="en-US" sz="2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8321040" cy="19050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Estrategia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tomamos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Gilje, Loutskina y Strahan (JF 2016)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Shock de depósitos por descubrimientos de shale; exposición = share de sucursales del banco en condados con boom, predeterminada.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Exposición por presencia geográfica.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Cantidad y precio a la vez, para separar oferta de demanda.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Erel y Liebersohn (JFE 2022)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Adopción de fintech en el programa PPP: mayor donde la banca física llega peor.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Sustitución entre acceso físico y canal digital.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Sucursales por habitante como exposición alternativa.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Burga et al. (2025), Perú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Interoperabilidad Yape-Plin; DiD con exposición continua por ciudad, medida antes de la reforma.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antecedente directo de interoperabilidad.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hueco que dejan: no miran la composición del fondeo bancario.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Drechsler, Savov y Schnabl (QJE 2017)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canal de los depósitos: el poder de mercado hace al depósito minorista barato y estable.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efecto de la competencia debe verse en el costo del pasivo.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Composición antes que nivel.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seguimos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1051560"/>
            <a:ext cx="8321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Tasas implícitas por instrumento. </a:t>
            </a:r>
            <a:r>
              <a:rPr lang="en-US" sz="11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intereses pagados sobre stock promedio, por cuenta y </a:t>
            </a:r>
            <a:r>
              <a:rPr lang="en-US" sz="1150" dirty="0" err="1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1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banco.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El diagnóstico que decide el diseño de precio. </a:t>
            </a:r>
            <a:r>
              <a:rPr lang="en-US" sz="11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al fondeo de fondos money market interactuada con la alícuota de encaje vigente (serie ya construida, cada tramo con su norma): el efecto debe decrecer con la alícuota.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Event studies con trayectorias previas. </a:t>
            </a:r>
            <a:r>
              <a:rPr lang="en-US" sz="11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recomposición de noviembre de 2021, con inferencia adecuada para pocos grupos desde la primera tabla.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Completar el vínculo fondo-banco. </a:t>
            </a:r>
            <a:r>
              <a:rPr lang="en-US" sz="11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cartera semanal de los fondos (CAFCI) para dimensionar qué parte de la cuenta 311724 corresponde a fondos money market.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908</TotalTime>
  <Words>1185</Words>
  <Application>Microsoft Macintosh PowerPoint</Application>
  <PresentationFormat>On-screen Show (16:9)</PresentationFormat>
  <Paragraphs>147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Sofía Attadía</cp:lastModifiedBy>
  <cp:revision>9</cp:revision>
  <dcterms:created xsi:type="dcterms:W3CDTF">2026-08-19T22:18:59Z</dcterms:created>
  <dcterms:modified xsi:type="dcterms:W3CDTF">2026-08-20T13:28:24Z</dcterms:modified>
</cp:coreProperties>
</file>